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Garamond"/>
      <p:regular r:id="rId15"/>
      <p:bold r:id="rId16"/>
      <p:italic r:id="rId17"/>
      <p:boldItalic r:id="rId18"/>
    </p:embeddedFont>
    <p:embeddedFont>
      <p:font typeface="Helvetica Neue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16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1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22" Type="http://schemas.openxmlformats.org/officeDocument/2006/relationships/font" Target="fonts/HelveticaNeue-boldItalic.fntdata"/><Relationship Id="rId21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Garamond-regular.fntdata"/><Relationship Id="rId14" Type="http://schemas.openxmlformats.org/officeDocument/2006/relationships/slide" Target="slides/slide9.xml"/><Relationship Id="rId17" Type="http://schemas.openxmlformats.org/officeDocument/2006/relationships/font" Target="fonts/Garamond-italic.fntdata"/><Relationship Id="rId16" Type="http://schemas.openxmlformats.org/officeDocument/2006/relationships/font" Target="fonts/Garamond-bold.fntdata"/><Relationship Id="rId19" Type="http://schemas.openxmlformats.org/officeDocument/2006/relationships/font" Target="fonts/HelveticaNeue-regular.fntdata"/><Relationship Id="rId18" Type="http://schemas.openxmlformats.org/officeDocument/2006/relationships/font" Target="fonts/Garamon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ba6e8f10a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cba6e8f10a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b1471677b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‘Exchange Rates, Equity Prices, and Capital Flows’ by Hau &amp; Rey</a:t>
            </a:r>
            <a:endParaRPr/>
          </a:p>
        </p:txBody>
      </p:sp>
      <p:sp>
        <p:nvSpPr>
          <p:cNvPr id="268" name="Google Shape;268;g3cb1471677b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‘E</a:t>
            </a:r>
            <a:r>
              <a:rPr lang="en-US"/>
              <a:t>xchange Rates, Equity Prices, and Capital Flows’ by Hau &amp; Rey</a:t>
            </a:r>
            <a:endParaRPr/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b1471677b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2" name="Google Shape;282;g3cb1471677b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b1471677b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cb1471677b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cb1471677b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ba6e8f10a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cba6e8f10a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cba6e8f10a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ba6e8f10a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cba6e8f10a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cba6e8f10a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/>
          <p:nvPr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Image Background Shield" showMasterSp="0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9306" l="1" r="25845" t="28434"/>
          <a:stretch/>
        </p:blipFill>
        <p:spPr>
          <a:xfrm>
            <a:off x="-1" y="0"/>
            <a:ext cx="12192001" cy="68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-2621921" y="-2324283"/>
            <a:ext cx="9640714" cy="12476217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/>
          <p:nvPr>
            <p:ph type="ctrTitle"/>
          </p:nvPr>
        </p:nvSpPr>
        <p:spPr>
          <a:xfrm>
            <a:off x="914400" y="1201106"/>
            <a:ext cx="377613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  <a:defRPr b="0" i="0" sz="4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" type="subTitle"/>
          </p:nvPr>
        </p:nvSpPr>
        <p:spPr>
          <a:xfrm>
            <a:off x="950580" y="3680781"/>
            <a:ext cx="3739954" cy="623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2" name="Google Shape;32;p3"/>
          <p:cNvGrpSpPr/>
          <p:nvPr/>
        </p:nvGrpSpPr>
        <p:grpSpPr>
          <a:xfrm>
            <a:off x="-74428" y="6408519"/>
            <a:ext cx="12310879" cy="466344"/>
            <a:chOff x="-74428" y="6408519"/>
            <a:chExt cx="12310879" cy="466344"/>
          </a:xfrm>
        </p:grpSpPr>
        <p:sp>
          <p:nvSpPr>
            <p:cNvPr id="33" name="Google Shape;33;p3"/>
            <p:cNvSpPr/>
            <p:nvPr/>
          </p:nvSpPr>
          <p:spPr>
            <a:xfrm>
              <a:off x="-74428" y="6408519"/>
              <a:ext cx="12310879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34" name="Google Shape;34;p3"/>
            <p:cNvPicPr preferRelativeResize="0"/>
            <p:nvPr/>
          </p:nvPicPr>
          <p:blipFill rotWithShape="1">
            <a:blip r:embed="rId4">
              <a:alphaModFix/>
            </a:blip>
            <a:srcRect b="23672" l="0" r="36862" t="0"/>
            <a:stretch/>
          </p:blipFill>
          <p:spPr>
            <a:xfrm>
              <a:off x="648697" y="6415800"/>
              <a:ext cx="1322344" cy="344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3"/>
            <p:cNvSpPr txBox="1"/>
            <p:nvPr/>
          </p:nvSpPr>
          <p:spPr>
            <a:xfrm>
              <a:off x="1957536" y="6540125"/>
              <a:ext cx="798507" cy="203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25" lIns="9125" spcFirstLastPara="1" rIns="9125" wrap="square" tIns="91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Master of Science in Financial Mathematics</a:t>
              </a:r>
              <a:endParaRPr/>
            </a:p>
          </p:txBody>
        </p:sp>
        <p:grpSp>
          <p:nvGrpSpPr>
            <p:cNvPr id="36" name="Google Shape;36;p3"/>
            <p:cNvGrpSpPr/>
            <p:nvPr/>
          </p:nvGrpSpPr>
          <p:grpSpPr>
            <a:xfrm>
              <a:off x="2808570" y="6484406"/>
              <a:ext cx="2215405" cy="301752"/>
              <a:chOff x="2808570" y="6484406"/>
              <a:chExt cx="2215405" cy="301752"/>
            </a:xfrm>
          </p:grpSpPr>
          <p:pic>
            <p:nvPicPr>
              <p:cNvPr id="37" name="Google Shape;37;p3"/>
              <p:cNvPicPr preferRelativeResize="0"/>
              <p:nvPr/>
            </p:nvPicPr>
            <p:blipFill rotWithShape="1">
              <a:blip r:embed="rId5">
                <a:alphaModFix/>
              </a:blip>
              <a:srcRect b="24010" l="6356" r="84818" t="22120"/>
              <a:stretch/>
            </p:blipFill>
            <p:spPr>
              <a:xfrm>
                <a:off x="2808570" y="6484406"/>
                <a:ext cx="223251" cy="3017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" name="Google Shape;38;p3"/>
              <p:cNvSpPr txBox="1"/>
              <p:nvPr/>
            </p:nvSpPr>
            <p:spPr>
              <a:xfrm>
                <a:off x="3031821" y="6549104"/>
                <a:ext cx="1992154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25" lIns="9125" spcFirstLastPara="1" rIns="9125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chemeClr val="lt1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Physical Sciences Division</a:t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Image Background Bar" showMasterSp="0">
  <p:cSld name="Title Slide Image Background Ba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4"/>
          <p:cNvPicPr preferRelativeResize="0"/>
          <p:nvPr/>
        </p:nvPicPr>
        <p:blipFill rotWithShape="1">
          <a:blip r:embed="rId2">
            <a:alphaModFix/>
          </a:blip>
          <a:srcRect b="9209" l="0" r="25845" t="28434"/>
          <a:stretch/>
        </p:blipFill>
        <p:spPr>
          <a:xfrm>
            <a:off x="-1" y="0"/>
            <a:ext cx="12192000" cy="683481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-1" y="-15888"/>
            <a:ext cx="5306907" cy="6475015"/>
          </a:xfrm>
          <a:prstGeom prst="rect">
            <a:avLst/>
          </a:prstGeom>
          <a:solidFill>
            <a:schemeClr val="lt1">
              <a:alpha val="7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" name="Google Shape;42;p4"/>
          <p:cNvSpPr txBox="1"/>
          <p:nvPr>
            <p:ph type="ctrTitle"/>
          </p:nvPr>
        </p:nvSpPr>
        <p:spPr>
          <a:xfrm>
            <a:off x="914400" y="1201106"/>
            <a:ext cx="377613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  <a:defRPr b="0" i="0" sz="4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" type="subTitle"/>
          </p:nvPr>
        </p:nvSpPr>
        <p:spPr>
          <a:xfrm>
            <a:off x="950580" y="3680781"/>
            <a:ext cx="3739954" cy="623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4" name="Google Shape;44;p4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5" name="Google Shape;45;p4"/>
          <p:cNvGrpSpPr/>
          <p:nvPr/>
        </p:nvGrpSpPr>
        <p:grpSpPr>
          <a:xfrm>
            <a:off x="-74428" y="6408519"/>
            <a:ext cx="12310879" cy="466344"/>
            <a:chOff x="-74428" y="6408519"/>
            <a:chExt cx="12310879" cy="466344"/>
          </a:xfrm>
        </p:grpSpPr>
        <p:sp>
          <p:nvSpPr>
            <p:cNvPr id="46" name="Google Shape;46;p4"/>
            <p:cNvSpPr/>
            <p:nvPr/>
          </p:nvSpPr>
          <p:spPr>
            <a:xfrm>
              <a:off x="-74428" y="6408519"/>
              <a:ext cx="12310879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47" name="Google Shape;47;p4"/>
            <p:cNvPicPr preferRelativeResize="0"/>
            <p:nvPr/>
          </p:nvPicPr>
          <p:blipFill rotWithShape="1">
            <a:blip r:embed="rId3">
              <a:alphaModFix/>
            </a:blip>
            <a:srcRect b="23672" l="0" r="36862" t="0"/>
            <a:stretch/>
          </p:blipFill>
          <p:spPr>
            <a:xfrm>
              <a:off x="648697" y="6415800"/>
              <a:ext cx="1322344" cy="344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" name="Google Shape;48;p4"/>
            <p:cNvSpPr txBox="1"/>
            <p:nvPr/>
          </p:nvSpPr>
          <p:spPr>
            <a:xfrm>
              <a:off x="1957536" y="6540125"/>
              <a:ext cx="798507" cy="203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25" lIns="9125" spcFirstLastPara="1" rIns="9125" wrap="square" tIns="91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Master of Science in Financial Mathematics</a:t>
              </a:r>
              <a:endParaRPr/>
            </a:p>
          </p:txBody>
        </p:sp>
        <p:grpSp>
          <p:nvGrpSpPr>
            <p:cNvPr id="49" name="Google Shape;49;p4"/>
            <p:cNvGrpSpPr/>
            <p:nvPr/>
          </p:nvGrpSpPr>
          <p:grpSpPr>
            <a:xfrm>
              <a:off x="2808570" y="6484406"/>
              <a:ext cx="2215405" cy="301752"/>
              <a:chOff x="2808570" y="6484406"/>
              <a:chExt cx="2215405" cy="301752"/>
            </a:xfrm>
          </p:grpSpPr>
          <p:pic>
            <p:nvPicPr>
              <p:cNvPr id="50" name="Google Shape;50;p4"/>
              <p:cNvPicPr preferRelativeResize="0"/>
              <p:nvPr/>
            </p:nvPicPr>
            <p:blipFill rotWithShape="1">
              <a:blip r:embed="rId4">
                <a:alphaModFix/>
              </a:blip>
              <a:srcRect b="24010" l="6356" r="84818" t="22120"/>
              <a:stretch/>
            </p:blipFill>
            <p:spPr>
              <a:xfrm>
                <a:off x="2808570" y="6484406"/>
                <a:ext cx="223251" cy="3017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Google Shape;51;p4"/>
              <p:cNvSpPr txBox="1"/>
              <p:nvPr/>
            </p:nvSpPr>
            <p:spPr>
              <a:xfrm>
                <a:off x="3031821" y="6549104"/>
                <a:ext cx="1992154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25" lIns="9125" spcFirstLastPara="1" rIns="9125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chemeClr val="lt1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Physical Sciences Division</a:t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ey Shield" showMasterSp="0">
  <p:cSld name="Title Slide Grey Shield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5"/>
          <p:cNvGrpSpPr/>
          <p:nvPr/>
        </p:nvGrpSpPr>
        <p:grpSpPr>
          <a:xfrm>
            <a:off x="6995160" y="-2087105"/>
            <a:ext cx="8384488" cy="10850515"/>
            <a:chOff x="3890639" y="-2045539"/>
            <a:chExt cx="8193228" cy="10603002"/>
          </a:xfrm>
        </p:grpSpPr>
        <p:pic>
          <p:nvPicPr>
            <p:cNvPr id="54" name="Google Shape;54;p5"/>
            <p:cNvPicPr preferRelativeResize="0"/>
            <p:nvPr/>
          </p:nvPicPr>
          <p:blipFill rotWithShape="1">
            <a:blip r:embed="rId2">
              <a:alphaModFix amt="30000"/>
            </a:blip>
            <a:srcRect b="0" l="0" r="0" t="0"/>
            <a:stretch/>
          </p:blipFill>
          <p:spPr>
            <a:xfrm>
              <a:off x="3890639" y="-2045539"/>
              <a:ext cx="8193228" cy="1060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5"/>
            <p:cNvPicPr preferRelativeResize="0"/>
            <p:nvPr/>
          </p:nvPicPr>
          <p:blipFill rotWithShape="1">
            <a:blip r:embed="rId3">
              <a:alphaModFix amt="15000"/>
            </a:blip>
            <a:srcRect b="0" l="0" r="0" t="0"/>
            <a:stretch/>
          </p:blipFill>
          <p:spPr>
            <a:xfrm>
              <a:off x="5173001" y="727132"/>
              <a:ext cx="5641848" cy="49366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" name="Google Shape;56;p5"/>
          <p:cNvSpPr txBox="1"/>
          <p:nvPr>
            <p:ph type="ctrTitle"/>
          </p:nvPr>
        </p:nvSpPr>
        <p:spPr>
          <a:xfrm>
            <a:off x="914400" y="1201106"/>
            <a:ext cx="558393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  <a:defRPr b="0" i="0" sz="4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" type="subTitle"/>
          </p:nvPr>
        </p:nvSpPr>
        <p:spPr>
          <a:xfrm>
            <a:off x="950579" y="3680781"/>
            <a:ext cx="5551823" cy="623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58" name="Google Shape;58;p5"/>
          <p:cNvGrpSpPr/>
          <p:nvPr/>
        </p:nvGrpSpPr>
        <p:grpSpPr>
          <a:xfrm>
            <a:off x="-74428" y="6408519"/>
            <a:ext cx="12310879" cy="466344"/>
            <a:chOff x="-74428" y="6408519"/>
            <a:chExt cx="12310879" cy="466344"/>
          </a:xfrm>
        </p:grpSpPr>
        <p:sp>
          <p:nvSpPr>
            <p:cNvPr id="59" name="Google Shape;59;p5"/>
            <p:cNvSpPr/>
            <p:nvPr/>
          </p:nvSpPr>
          <p:spPr>
            <a:xfrm>
              <a:off x="-74428" y="6408519"/>
              <a:ext cx="12310879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60" name="Google Shape;60;p5"/>
            <p:cNvPicPr preferRelativeResize="0"/>
            <p:nvPr/>
          </p:nvPicPr>
          <p:blipFill rotWithShape="1">
            <a:blip r:embed="rId4">
              <a:alphaModFix/>
            </a:blip>
            <a:srcRect b="23672" l="0" r="36862" t="0"/>
            <a:stretch/>
          </p:blipFill>
          <p:spPr>
            <a:xfrm>
              <a:off x="648697" y="6415800"/>
              <a:ext cx="1322344" cy="344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5"/>
            <p:cNvSpPr txBox="1"/>
            <p:nvPr/>
          </p:nvSpPr>
          <p:spPr>
            <a:xfrm>
              <a:off x="1957536" y="6540125"/>
              <a:ext cx="798507" cy="203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25" lIns="9125" spcFirstLastPara="1" rIns="9125" wrap="square" tIns="91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Master of Science in Financial Mathematics</a:t>
              </a:r>
              <a:endParaRPr/>
            </a:p>
          </p:txBody>
        </p:sp>
        <p:grpSp>
          <p:nvGrpSpPr>
            <p:cNvPr id="62" name="Google Shape;62;p5"/>
            <p:cNvGrpSpPr/>
            <p:nvPr/>
          </p:nvGrpSpPr>
          <p:grpSpPr>
            <a:xfrm>
              <a:off x="2808570" y="6484406"/>
              <a:ext cx="2215405" cy="301752"/>
              <a:chOff x="2808570" y="6484406"/>
              <a:chExt cx="2215405" cy="301752"/>
            </a:xfrm>
          </p:grpSpPr>
          <p:pic>
            <p:nvPicPr>
              <p:cNvPr id="63" name="Google Shape;63;p5"/>
              <p:cNvPicPr preferRelativeResize="0"/>
              <p:nvPr/>
            </p:nvPicPr>
            <p:blipFill rotWithShape="1">
              <a:blip r:embed="rId5">
                <a:alphaModFix/>
              </a:blip>
              <a:srcRect b="24010" l="6356" r="84818" t="22120"/>
              <a:stretch/>
            </p:blipFill>
            <p:spPr>
              <a:xfrm>
                <a:off x="2808570" y="6484406"/>
                <a:ext cx="223251" cy="3017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" name="Google Shape;64;p5"/>
              <p:cNvSpPr txBox="1"/>
              <p:nvPr/>
            </p:nvSpPr>
            <p:spPr>
              <a:xfrm>
                <a:off x="3031821" y="6549104"/>
                <a:ext cx="1992154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25" lIns="9125" spcFirstLastPara="1" rIns="9125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chemeClr val="lt1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Physical Sciences Division</a:t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ey Phoenix" showMasterSp="0">
  <p:cSld name="Title Slide Grey Phoenix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6"/>
          <p:cNvPicPr preferRelativeResize="0"/>
          <p:nvPr/>
        </p:nvPicPr>
        <p:blipFill rotWithShape="1">
          <a:blip r:embed="rId2">
            <a:alphaModFix amt="15000"/>
          </a:blip>
          <a:srcRect b="0" l="0" r="0" t="0"/>
          <a:stretch/>
        </p:blipFill>
        <p:spPr>
          <a:xfrm>
            <a:off x="8307457" y="750290"/>
            <a:ext cx="5773549" cy="505185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6"/>
          <p:cNvSpPr txBox="1"/>
          <p:nvPr>
            <p:ph type="ctrTitle"/>
          </p:nvPr>
        </p:nvSpPr>
        <p:spPr>
          <a:xfrm>
            <a:off x="914400" y="1201106"/>
            <a:ext cx="558393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  <a:defRPr b="0" i="0" sz="4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"/>
          <p:cNvSpPr txBox="1"/>
          <p:nvPr>
            <p:ph idx="1" type="subTitle"/>
          </p:nvPr>
        </p:nvSpPr>
        <p:spPr>
          <a:xfrm>
            <a:off x="950579" y="3680781"/>
            <a:ext cx="5551823" cy="623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69" name="Google Shape;69;p6"/>
          <p:cNvGrpSpPr/>
          <p:nvPr/>
        </p:nvGrpSpPr>
        <p:grpSpPr>
          <a:xfrm>
            <a:off x="-74428" y="6408519"/>
            <a:ext cx="12310879" cy="466344"/>
            <a:chOff x="-74428" y="6408519"/>
            <a:chExt cx="12310879" cy="466344"/>
          </a:xfrm>
        </p:grpSpPr>
        <p:sp>
          <p:nvSpPr>
            <p:cNvPr id="70" name="Google Shape;70;p6"/>
            <p:cNvSpPr/>
            <p:nvPr/>
          </p:nvSpPr>
          <p:spPr>
            <a:xfrm>
              <a:off x="-74428" y="6408519"/>
              <a:ext cx="12310879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71" name="Google Shape;71;p6"/>
            <p:cNvPicPr preferRelativeResize="0"/>
            <p:nvPr/>
          </p:nvPicPr>
          <p:blipFill rotWithShape="1">
            <a:blip r:embed="rId3">
              <a:alphaModFix/>
            </a:blip>
            <a:srcRect b="23672" l="0" r="36862" t="0"/>
            <a:stretch/>
          </p:blipFill>
          <p:spPr>
            <a:xfrm>
              <a:off x="648697" y="6415800"/>
              <a:ext cx="1322344" cy="344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6"/>
            <p:cNvSpPr txBox="1"/>
            <p:nvPr/>
          </p:nvSpPr>
          <p:spPr>
            <a:xfrm>
              <a:off x="1957536" y="6540125"/>
              <a:ext cx="798507" cy="203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25" lIns="9125" spcFirstLastPara="1" rIns="9125" wrap="square" tIns="91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Master of Science in Financial Mathematics</a:t>
              </a:r>
              <a:endParaRPr/>
            </a:p>
          </p:txBody>
        </p:sp>
        <p:grpSp>
          <p:nvGrpSpPr>
            <p:cNvPr id="73" name="Google Shape;73;p6"/>
            <p:cNvGrpSpPr/>
            <p:nvPr/>
          </p:nvGrpSpPr>
          <p:grpSpPr>
            <a:xfrm>
              <a:off x="2808570" y="6484406"/>
              <a:ext cx="2215405" cy="301752"/>
              <a:chOff x="2808570" y="6484406"/>
              <a:chExt cx="2215405" cy="301752"/>
            </a:xfrm>
          </p:grpSpPr>
          <p:pic>
            <p:nvPicPr>
              <p:cNvPr id="74" name="Google Shape;74;p6"/>
              <p:cNvPicPr preferRelativeResize="0"/>
              <p:nvPr/>
            </p:nvPicPr>
            <p:blipFill rotWithShape="1">
              <a:blip r:embed="rId4">
                <a:alphaModFix/>
              </a:blip>
              <a:srcRect b="24010" l="6356" r="84818" t="22120"/>
              <a:stretch/>
            </p:blipFill>
            <p:spPr>
              <a:xfrm>
                <a:off x="2808570" y="6484406"/>
                <a:ext cx="223251" cy="3017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" name="Google Shape;75;p6"/>
              <p:cNvSpPr txBox="1"/>
              <p:nvPr/>
            </p:nvSpPr>
            <p:spPr>
              <a:xfrm>
                <a:off x="3031821" y="6549104"/>
                <a:ext cx="1992154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25" lIns="9125" spcFirstLastPara="1" rIns="9125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chemeClr val="lt1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Physical Sciences Division</a:t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ark Greystone" showMasterSp="0">
  <p:cSld name="Title Slide Dark Greystone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7"/>
          <p:cNvGrpSpPr/>
          <p:nvPr/>
        </p:nvGrpSpPr>
        <p:grpSpPr>
          <a:xfrm>
            <a:off x="8311896" y="0"/>
            <a:ext cx="5773549" cy="6400800"/>
            <a:chOff x="5156004" y="0"/>
            <a:chExt cx="5773549" cy="6400800"/>
          </a:xfrm>
        </p:grpSpPr>
        <p:sp>
          <p:nvSpPr>
            <p:cNvPr id="78" name="Google Shape;78;p7"/>
            <p:cNvSpPr/>
            <p:nvPr/>
          </p:nvSpPr>
          <p:spPr>
            <a:xfrm>
              <a:off x="5303520" y="0"/>
              <a:ext cx="3732588" cy="64008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79" name="Google Shape;79;p7"/>
            <p:cNvPicPr preferRelativeResize="0"/>
            <p:nvPr/>
          </p:nvPicPr>
          <p:blipFill rotWithShape="1">
            <a:blip r:embed="rId2">
              <a:alphaModFix amt="30000"/>
            </a:blip>
            <a:srcRect b="0" l="0" r="0" t="0"/>
            <a:stretch/>
          </p:blipFill>
          <p:spPr>
            <a:xfrm>
              <a:off x="5156004" y="749809"/>
              <a:ext cx="5773549" cy="50518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" name="Google Shape;80;p7"/>
          <p:cNvSpPr txBox="1"/>
          <p:nvPr>
            <p:ph type="ctrTitle"/>
          </p:nvPr>
        </p:nvSpPr>
        <p:spPr>
          <a:xfrm>
            <a:off x="914400" y="1201106"/>
            <a:ext cx="558393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elvetica Neue"/>
              <a:buNone/>
              <a:defRPr b="0" i="0" sz="4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"/>
          <p:cNvSpPr txBox="1"/>
          <p:nvPr>
            <p:ph idx="1" type="subTitle"/>
          </p:nvPr>
        </p:nvSpPr>
        <p:spPr>
          <a:xfrm>
            <a:off x="950579" y="3680781"/>
            <a:ext cx="5551823" cy="623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82" name="Google Shape;82;p7"/>
          <p:cNvGrpSpPr/>
          <p:nvPr/>
        </p:nvGrpSpPr>
        <p:grpSpPr>
          <a:xfrm>
            <a:off x="-74428" y="6408519"/>
            <a:ext cx="12310879" cy="466344"/>
            <a:chOff x="-74428" y="6408519"/>
            <a:chExt cx="12310879" cy="466344"/>
          </a:xfrm>
        </p:grpSpPr>
        <p:sp>
          <p:nvSpPr>
            <p:cNvPr id="83" name="Google Shape;83;p7"/>
            <p:cNvSpPr/>
            <p:nvPr/>
          </p:nvSpPr>
          <p:spPr>
            <a:xfrm>
              <a:off x="-74428" y="6408519"/>
              <a:ext cx="12310879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84" name="Google Shape;84;p7"/>
            <p:cNvPicPr preferRelativeResize="0"/>
            <p:nvPr/>
          </p:nvPicPr>
          <p:blipFill rotWithShape="1">
            <a:blip r:embed="rId3">
              <a:alphaModFix/>
            </a:blip>
            <a:srcRect b="23672" l="0" r="36862" t="0"/>
            <a:stretch/>
          </p:blipFill>
          <p:spPr>
            <a:xfrm>
              <a:off x="648697" y="6415800"/>
              <a:ext cx="1322344" cy="344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7"/>
            <p:cNvSpPr txBox="1"/>
            <p:nvPr/>
          </p:nvSpPr>
          <p:spPr>
            <a:xfrm>
              <a:off x="1957536" y="6540125"/>
              <a:ext cx="798507" cy="203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25" lIns="9125" spcFirstLastPara="1" rIns="9125" wrap="square" tIns="91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Master of Science in Financial Mathematics</a:t>
              </a:r>
              <a:endParaRPr/>
            </a:p>
          </p:txBody>
        </p:sp>
        <p:grpSp>
          <p:nvGrpSpPr>
            <p:cNvPr id="86" name="Google Shape;86;p7"/>
            <p:cNvGrpSpPr/>
            <p:nvPr/>
          </p:nvGrpSpPr>
          <p:grpSpPr>
            <a:xfrm>
              <a:off x="2808570" y="6484406"/>
              <a:ext cx="2215405" cy="301752"/>
              <a:chOff x="2808570" y="6484406"/>
              <a:chExt cx="2215405" cy="301752"/>
            </a:xfrm>
          </p:grpSpPr>
          <p:pic>
            <p:nvPicPr>
              <p:cNvPr id="87" name="Google Shape;87;p7"/>
              <p:cNvPicPr preferRelativeResize="0"/>
              <p:nvPr/>
            </p:nvPicPr>
            <p:blipFill rotWithShape="1">
              <a:blip r:embed="rId4">
                <a:alphaModFix/>
              </a:blip>
              <a:srcRect b="24010" l="6356" r="84818" t="22120"/>
              <a:stretch/>
            </p:blipFill>
            <p:spPr>
              <a:xfrm>
                <a:off x="2808570" y="6484406"/>
                <a:ext cx="223251" cy="3017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8" name="Google Shape;88;p7"/>
              <p:cNvSpPr txBox="1"/>
              <p:nvPr/>
            </p:nvSpPr>
            <p:spPr>
              <a:xfrm>
                <a:off x="3031821" y="6549104"/>
                <a:ext cx="1992154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25" lIns="9125" spcFirstLastPara="1" rIns="9125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chemeClr val="lt1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Physical Sciences Division</a:t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Light Greystone" showMasterSp="0" type="secHead">
  <p:cSld name="SECTION_HEADER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 txBox="1"/>
          <p:nvPr>
            <p:ph type="title"/>
          </p:nvPr>
        </p:nvSpPr>
        <p:spPr>
          <a:xfrm>
            <a:off x="831851" y="2359716"/>
            <a:ext cx="10515600" cy="25818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Helvetica Neue"/>
              <a:buNone/>
              <a:defRPr b="0" i="0" sz="4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8"/>
          <p:cNvSpPr txBox="1"/>
          <p:nvPr>
            <p:ph idx="1" type="body"/>
          </p:nvPr>
        </p:nvSpPr>
        <p:spPr>
          <a:xfrm>
            <a:off x="831851" y="4968566"/>
            <a:ext cx="10515600" cy="925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2" name="Google Shape;92;p8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9427464" y="0"/>
            <a:ext cx="3836416" cy="33568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8"/>
          <p:cNvGrpSpPr/>
          <p:nvPr/>
        </p:nvGrpSpPr>
        <p:grpSpPr>
          <a:xfrm>
            <a:off x="-74428" y="6408519"/>
            <a:ext cx="12310879" cy="466344"/>
            <a:chOff x="-74428" y="6408519"/>
            <a:chExt cx="12310879" cy="466344"/>
          </a:xfrm>
        </p:grpSpPr>
        <p:sp>
          <p:nvSpPr>
            <p:cNvPr id="95" name="Google Shape;95;p8"/>
            <p:cNvSpPr/>
            <p:nvPr/>
          </p:nvSpPr>
          <p:spPr>
            <a:xfrm>
              <a:off x="-74428" y="6408519"/>
              <a:ext cx="12310879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6" name="Google Shape;96;p8"/>
            <p:cNvPicPr preferRelativeResize="0"/>
            <p:nvPr/>
          </p:nvPicPr>
          <p:blipFill rotWithShape="1">
            <a:blip r:embed="rId3">
              <a:alphaModFix/>
            </a:blip>
            <a:srcRect b="23672" l="0" r="36862" t="0"/>
            <a:stretch/>
          </p:blipFill>
          <p:spPr>
            <a:xfrm>
              <a:off x="648697" y="6415800"/>
              <a:ext cx="1322344" cy="344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8"/>
            <p:cNvSpPr txBox="1"/>
            <p:nvPr/>
          </p:nvSpPr>
          <p:spPr>
            <a:xfrm>
              <a:off x="1957536" y="6540125"/>
              <a:ext cx="798507" cy="203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25" lIns="9125" spcFirstLastPara="1" rIns="9125" wrap="square" tIns="91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Master of Science in Financial Mathematics</a:t>
              </a:r>
              <a:endParaRPr/>
            </a:p>
          </p:txBody>
        </p:sp>
        <p:grpSp>
          <p:nvGrpSpPr>
            <p:cNvPr id="98" name="Google Shape;98;p8"/>
            <p:cNvGrpSpPr/>
            <p:nvPr/>
          </p:nvGrpSpPr>
          <p:grpSpPr>
            <a:xfrm>
              <a:off x="2808570" y="6484406"/>
              <a:ext cx="2215405" cy="301752"/>
              <a:chOff x="2808570" y="6484406"/>
              <a:chExt cx="2215405" cy="301752"/>
            </a:xfrm>
          </p:grpSpPr>
          <p:pic>
            <p:nvPicPr>
              <p:cNvPr id="99" name="Google Shape;99;p8"/>
              <p:cNvPicPr preferRelativeResize="0"/>
              <p:nvPr/>
            </p:nvPicPr>
            <p:blipFill rotWithShape="1">
              <a:blip r:embed="rId4">
                <a:alphaModFix/>
              </a:blip>
              <a:srcRect b="24010" l="6356" r="84818" t="22120"/>
              <a:stretch/>
            </p:blipFill>
            <p:spPr>
              <a:xfrm>
                <a:off x="2808570" y="6484406"/>
                <a:ext cx="223251" cy="3017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" name="Google Shape;100;p8"/>
              <p:cNvSpPr txBox="1"/>
              <p:nvPr/>
            </p:nvSpPr>
            <p:spPr>
              <a:xfrm>
                <a:off x="3031821" y="6549104"/>
                <a:ext cx="1992154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25" lIns="9125" spcFirstLastPara="1" rIns="9125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chemeClr val="lt1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Physical Sciences Division</a:t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hite" showMasterSp="0">
  <p:cSld name="Section Header White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/>
          <p:nvPr>
            <p:ph idx="1" type="body"/>
          </p:nvPr>
        </p:nvSpPr>
        <p:spPr>
          <a:xfrm>
            <a:off x="831851" y="4968566"/>
            <a:ext cx="10515600" cy="925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rgbClr val="767676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9"/>
          <p:cNvSpPr txBox="1"/>
          <p:nvPr>
            <p:ph type="title"/>
          </p:nvPr>
        </p:nvSpPr>
        <p:spPr>
          <a:xfrm>
            <a:off x="831851" y="2359716"/>
            <a:ext cx="10515600" cy="25818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000"/>
              <a:buFont typeface="Helvetica Neue"/>
              <a:buNone/>
              <a:defRPr b="0" i="0" sz="4000">
                <a:solidFill>
                  <a:srgbClr val="8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9429243" y="0"/>
            <a:ext cx="3836416" cy="33568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9"/>
          <p:cNvGrpSpPr/>
          <p:nvPr/>
        </p:nvGrpSpPr>
        <p:grpSpPr>
          <a:xfrm>
            <a:off x="-74428" y="6408519"/>
            <a:ext cx="12310879" cy="466344"/>
            <a:chOff x="-74428" y="6408519"/>
            <a:chExt cx="12310879" cy="466344"/>
          </a:xfrm>
        </p:grpSpPr>
        <p:sp>
          <p:nvSpPr>
            <p:cNvPr id="107" name="Google Shape;107;p9"/>
            <p:cNvSpPr/>
            <p:nvPr/>
          </p:nvSpPr>
          <p:spPr>
            <a:xfrm>
              <a:off x="-74428" y="6408519"/>
              <a:ext cx="12310879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108" name="Google Shape;108;p9"/>
            <p:cNvPicPr preferRelativeResize="0"/>
            <p:nvPr/>
          </p:nvPicPr>
          <p:blipFill rotWithShape="1">
            <a:blip r:embed="rId3">
              <a:alphaModFix/>
            </a:blip>
            <a:srcRect b="23672" l="0" r="36862" t="0"/>
            <a:stretch/>
          </p:blipFill>
          <p:spPr>
            <a:xfrm>
              <a:off x="648697" y="6415800"/>
              <a:ext cx="1322344" cy="344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9"/>
            <p:cNvSpPr txBox="1"/>
            <p:nvPr/>
          </p:nvSpPr>
          <p:spPr>
            <a:xfrm>
              <a:off x="1957536" y="6540125"/>
              <a:ext cx="798507" cy="203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25" lIns="9125" spcFirstLastPara="1" rIns="9125" wrap="square" tIns="91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Master of Science in Financial Mathematics</a:t>
              </a:r>
              <a:endParaRPr/>
            </a:p>
          </p:txBody>
        </p:sp>
        <p:grpSp>
          <p:nvGrpSpPr>
            <p:cNvPr id="110" name="Google Shape;110;p9"/>
            <p:cNvGrpSpPr/>
            <p:nvPr/>
          </p:nvGrpSpPr>
          <p:grpSpPr>
            <a:xfrm>
              <a:off x="2808570" y="6484406"/>
              <a:ext cx="2215405" cy="301752"/>
              <a:chOff x="2808570" y="6484406"/>
              <a:chExt cx="2215405" cy="301752"/>
            </a:xfrm>
          </p:grpSpPr>
          <p:pic>
            <p:nvPicPr>
              <p:cNvPr id="111" name="Google Shape;111;p9"/>
              <p:cNvPicPr preferRelativeResize="0"/>
              <p:nvPr/>
            </p:nvPicPr>
            <p:blipFill rotWithShape="1">
              <a:blip r:embed="rId4">
                <a:alphaModFix/>
              </a:blip>
              <a:srcRect b="24010" l="6356" r="84818" t="22120"/>
              <a:stretch/>
            </p:blipFill>
            <p:spPr>
              <a:xfrm>
                <a:off x="2808570" y="6484406"/>
                <a:ext cx="223251" cy="3017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2" name="Google Shape;112;p9"/>
              <p:cNvSpPr txBox="1"/>
              <p:nvPr/>
            </p:nvSpPr>
            <p:spPr>
              <a:xfrm>
                <a:off x="3031821" y="6549104"/>
                <a:ext cx="1992154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25" lIns="9125" spcFirstLastPara="1" rIns="9125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chemeClr val="lt1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Physical Sciences Division</a:t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Maroon" showMasterSp="0">
  <p:cSld name="Section Header Maroon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/>
          <p:nvPr/>
        </p:nvSpPr>
        <p:spPr>
          <a:xfrm>
            <a:off x="0" y="3"/>
            <a:ext cx="12192000" cy="686523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10"/>
          <p:cNvSpPr txBox="1"/>
          <p:nvPr>
            <p:ph idx="1" type="body"/>
          </p:nvPr>
        </p:nvSpPr>
        <p:spPr>
          <a:xfrm>
            <a:off x="831851" y="4968566"/>
            <a:ext cx="10515600" cy="925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10"/>
          <p:cNvSpPr txBox="1"/>
          <p:nvPr>
            <p:ph type="title"/>
          </p:nvPr>
        </p:nvSpPr>
        <p:spPr>
          <a:xfrm>
            <a:off x="831851" y="2359716"/>
            <a:ext cx="10515600" cy="25818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Helvetica Neue"/>
              <a:buNone/>
              <a:defRPr b="0" i="0" sz="40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0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8" name="Google Shape;118;p10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9427464" y="0"/>
            <a:ext cx="3836416" cy="33568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10"/>
          <p:cNvGrpSpPr/>
          <p:nvPr/>
        </p:nvGrpSpPr>
        <p:grpSpPr>
          <a:xfrm>
            <a:off x="-74428" y="6408519"/>
            <a:ext cx="12310879" cy="466344"/>
            <a:chOff x="-74428" y="6408519"/>
            <a:chExt cx="12310879" cy="466344"/>
          </a:xfrm>
        </p:grpSpPr>
        <p:sp>
          <p:nvSpPr>
            <p:cNvPr id="120" name="Google Shape;120;p10"/>
            <p:cNvSpPr/>
            <p:nvPr/>
          </p:nvSpPr>
          <p:spPr>
            <a:xfrm>
              <a:off x="-74428" y="6408519"/>
              <a:ext cx="12310879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121" name="Google Shape;121;p10"/>
            <p:cNvPicPr preferRelativeResize="0"/>
            <p:nvPr/>
          </p:nvPicPr>
          <p:blipFill rotWithShape="1">
            <a:blip r:embed="rId3">
              <a:alphaModFix/>
            </a:blip>
            <a:srcRect b="23672" l="0" r="36862" t="0"/>
            <a:stretch/>
          </p:blipFill>
          <p:spPr>
            <a:xfrm>
              <a:off x="648697" y="6415800"/>
              <a:ext cx="1322344" cy="344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10"/>
            <p:cNvSpPr txBox="1"/>
            <p:nvPr/>
          </p:nvSpPr>
          <p:spPr>
            <a:xfrm>
              <a:off x="1957536" y="6540125"/>
              <a:ext cx="798507" cy="203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25" lIns="9125" spcFirstLastPara="1" rIns="9125" wrap="square" tIns="91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Master of Science in Financial Mathematics</a:t>
              </a:r>
              <a:endParaRPr/>
            </a:p>
          </p:txBody>
        </p:sp>
        <p:grpSp>
          <p:nvGrpSpPr>
            <p:cNvPr id="123" name="Google Shape;123;p10"/>
            <p:cNvGrpSpPr/>
            <p:nvPr/>
          </p:nvGrpSpPr>
          <p:grpSpPr>
            <a:xfrm>
              <a:off x="2808570" y="6484406"/>
              <a:ext cx="2215405" cy="301752"/>
              <a:chOff x="2808570" y="6484406"/>
              <a:chExt cx="2215405" cy="301752"/>
            </a:xfrm>
          </p:grpSpPr>
          <p:pic>
            <p:nvPicPr>
              <p:cNvPr id="124" name="Google Shape;124;p10"/>
              <p:cNvPicPr preferRelativeResize="0"/>
              <p:nvPr/>
            </p:nvPicPr>
            <p:blipFill rotWithShape="1">
              <a:blip r:embed="rId4">
                <a:alphaModFix/>
              </a:blip>
              <a:srcRect b="24010" l="6356" r="84818" t="22120"/>
              <a:stretch/>
            </p:blipFill>
            <p:spPr>
              <a:xfrm>
                <a:off x="2808570" y="6484406"/>
                <a:ext cx="223251" cy="3017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" name="Google Shape;125;p10"/>
              <p:cNvSpPr txBox="1"/>
              <p:nvPr/>
            </p:nvSpPr>
            <p:spPr>
              <a:xfrm>
                <a:off x="3031821" y="6549104"/>
                <a:ext cx="1992154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25" lIns="9125" spcFirstLastPara="1" rIns="9125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chemeClr val="lt1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Physical Sciences Division</a:t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type="title"/>
          </p:nvPr>
        </p:nvSpPr>
        <p:spPr>
          <a:xfrm>
            <a:off x="839788" y="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rgbClr val="8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11"/>
          <p:cNvSpPr txBox="1"/>
          <p:nvPr>
            <p:ph idx="2" type="body"/>
          </p:nvPr>
        </p:nvSpPr>
        <p:spPr>
          <a:xfrm>
            <a:off x="839789" y="2505078"/>
            <a:ext cx="5157787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b="0" i="0"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b="0" i="0"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b="0" i="0"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 i="0" sz="16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1"/>
          <p:cNvSpPr txBox="1"/>
          <p:nvPr>
            <p:ph idx="3" type="body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rgbClr val="8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1" name="Google Shape;131;p11"/>
          <p:cNvSpPr txBox="1"/>
          <p:nvPr>
            <p:ph idx="4" type="body"/>
          </p:nvPr>
        </p:nvSpPr>
        <p:spPr>
          <a:xfrm>
            <a:off x="6172202" y="2505078"/>
            <a:ext cx="5183188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b="0" i="0"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b="0" i="0"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b="0" i="0"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 i="0" sz="16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11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/>
          <p:nvPr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2"/>
          <p:cNvSpPr txBox="1"/>
          <p:nvPr>
            <p:ph idx="1" type="body"/>
          </p:nvPr>
        </p:nvSpPr>
        <p:spPr>
          <a:xfrm>
            <a:off x="838200" y="1534136"/>
            <a:ext cx="10515600" cy="4429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b="0" i="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b="0" i="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b="0" i="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 i="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 i="0"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12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/>
          <p:nvPr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3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/>
          <p:nvPr>
            <p:ph idx="2" type="pic"/>
          </p:nvPr>
        </p:nvSpPr>
        <p:spPr>
          <a:xfrm>
            <a:off x="838200" y="1811871"/>
            <a:ext cx="7315200" cy="4049183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8610600" y="1811868"/>
            <a:ext cx="2743200" cy="4057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b="0" i="0" sz="1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43" name="Google Shape;143;p14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4"/>
          <p:cNvSpPr txBox="1"/>
          <p:nvPr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Bullets">
  <p:cSld name="Picture with Bullets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/>
          <p:nvPr>
            <p:ph idx="2" type="pic"/>
          </p:nvPr>
        </p:nvSpPr>
        <p:spPr>
          <a:xfrm>
            <a:off x="838200" y="1811871"/>
            <a:ext cx="4919133" cy="4049183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6434671" y="1809751"/>
            <a:ext cx="4919133" cy="4059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b="0" i="0" sz="2400"/>
            </a:lvl1pPr>
            <a:lvl2pPr indent="-3619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Char char="•"/>
              <a:defRPr b="0" i="0" sz="21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b="0" i="0" sz="1800"/>
            </a:lvl3pPr>
            <a:lvl4pPr indent="-3238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 b="0" i="0" sz="1500"/>
            </a:lvl4pPr>
            <a:lvl5pPr indent="-3238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 b="0" i="0" sz="1500"/>
            </a:lvl5pPr>
            <a:lvl6pPr indent="-3238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838200" y="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with Caption">
  <p:cSld name="3 Picture with Caption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6"/>
          <p:cNvSpPr txBox="1"/>
          <p:nvPr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6"/>
          <p:cNvSpPr/>
          <p:nvPr>
            <p:ph idx="2" type="pic"/>
          </p:nvPr>
        </p:nvSpPr>
        <p:spPr>
          <a:xfrm>
            <a:off x="838203" y="1811867"/>
            <a:ext cx="3356036" cy="2047752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838201" y="3995065"/>
            <a:ext cx="3356035" cy="112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0" i="0"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5" name="Google Shape;155;p16"/>
          <p:cNvSpPr txBox="1"/>
          <p:nvPr>
            <p:ph idx="3" type="body"/>
          </p:nvPr>
        </p:nvSpPr>
        <p:spPr>
          <a:xfrm>
            <a:off x="4417013" y="3995065"/>
            <a:ext cx="3357971" cy="112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0" i="0"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6" name="Google Shape;156;p16"/>
          <p:cNvSpPr txBox="1"/>
          <p:nvPr>
            <p:ph idx="4" type="body"/>
          </p:nvPr>
        </p:nvSpPr>
        <p:spPr>
          <a:xfrm>
            <a:off x="7995828" y="3995065"/>
            <a:ext cx="3357969" cy="112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0" i="0"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7" name="Google Shape;157;p16"/>
          <p:cNvSpPr/>
          <p:nvPr>
            <p:ph idx="5" type="pic"/>
          </p:nvPr>
        </p:nvSpPr>
        <p:spPr>
          <a:xfrm>
            <a:off x="4417015" y="1811870"/>
            <a:ext cx="3357972" cy="2048933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16"/>
          <p:cNvSpPr/>
          <p:nvPr>
            <p:ph idx="6" type="pic"/>
          </p:nvPr>
        </p:nvSpPr>
        <p:spPr>
          <a:xfrm>
            <a:off x="7995827" y="1811870"/>
            <a:ext cx="3357972" cy="204893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Full Slide" showMasterSp="0">
  <p:cSld name="Picture Full Slide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/>
          <p:nvPr>
            <p:ph idx="2" type="pic"/>
          </p:nvPr>
        </p:nvSpPr>
        <p:spPr>
          <a:xfrm>
            <a:off x="0" y="4"/>
            <a:ext cx="12192000" cy="6379784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17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62" name="Google Shape;162;p17"/>
          <p:cNvGrpSpPr/>
          <p:nvPr/>
        </p:nvGrpSpPr>
        <p:grpSpPr>
          <a:xfrm>
            <a:off x="-74428" y="6408519"/>
            <a:ext cx="12310879" cy="466344"/>
            <a:chOff x="-74428" y="6408519"/>
            <a:chExt cx="12310879" cy="466344"/>
          </a:xfrm>
        </p:grpSpPr>
        <p:sp>
          <p:nvSpPr>
            <p:cNvPr id="163" name="Google Shape;163;p17"/>
            <p:cNvSpPr/>
            <p:nvPr/>
          </p:nvSpPr>
          <p:spPr>
            <a:xfrm>
              <a:off x="-74428" y="6408519"/>
              <a:ext cx="12310879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164" name="Google Shape;164;p17"/>
            <p:cNvPicPr preferRelativeResize="0"/>
            <p:nvPr/>
          </p:nvPicPr>
          <p:blipFill rotWithShape="1">
            <a:blip r:embed="rId2">
              <a:alphaModFix/>
            </a:blip>
            <a:srcRect b="23672" l="0" r="36862" t="0"/>
            <a:stretch/>
          </p:blipFill>
          <p:spPr>
            <a:xfrm>
              <a:off x="648697" y="6415800"/>
              <a:ext cx="1322344" cy="344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17"/>
            <p:cNvSpPr txBox="1"/>
            <p:nvPr/>
          </p:nvSpPr>
          <p:spPr>
            <a:xfrm>
              <a:off x="1957536" y="6540125"/>
              <a:ext cx="798507" cy="203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25" lIns="9125" spcFirstLastPara="1" rIns="9125" wrap="square" tIns="91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Master of Science in Financial Mathematics</a:t>
              </a:r>
              <a:endParaRPr/>
            </a:p>
          </p:txBody>
        </p:sp>
        <p:grpSp>
          <p:nvGrpSpPr>
            <p:cNvPr id="166" name="Google Shape;166;p17"/>
            <p:cNvGrpSpPr/>
            <p:nvPr/>
          </p:nvGrpSpPr>
          <p:grpSpPr>
            <a:xfrm>
              <a:off x="2808570" y="6484406"/>
              <a:ext cx="2215405" cy="301752"/>
              <a:chOff x="2808570" y="6484406"/>
              <a:chExt cx="2215405" cy="301752"/>
            </a:xfrm>
          </p:grpSpPr>
          <p:pic>
            <p:nvPicPr>
              <p:cNvPr id="167" name="Google Shape;167;p17"/>
              <p:cNvPicPr preferRelativeResize="0"/>
              <p:nvPr/>
            </p:nvPicPr>
            <p:blipFill rotWithShape="1">
              <a:blip r:embed="rId3">
                <a:alphaModFix/>
              </a:blip>
              <a:srcRect b="24010" l="6356" r="84818" t="22120"/>
              <a:stretch/>
            </p:blipFill>
            <p:spPr>
              <a:xfrm>
                <a:off x="2808570" y="6484406"/>
                <a:ext cx="223251" cy="3017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8" name="Google Shape;168;p17"/>
              <p:cNvSpPr txBox="1"/>
              <p:nvPr/>
            </p:nvSpPr>
            <p:spPr>
              <a:xfrm>
                <a:off x="3031821" y="6549104"/>
                <a:ext cx="1992154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25" lIns="9125" spcFirstLastPara="1" rIns="9125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chemeClr val="lt1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Physical Sciences Division</a:t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Picture Stacked" showMasterSp="0">
  <p:cSld name="4 Picture Stacked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/>
          <p:nvPr>
            <p:ph idx="2" type="pic"/>
          </p:nvPr>
        </p:nvSpPr>
        <p:spPr>
          <a:xfrm>
            <a:off x="2" y="3231643"/>
            <a:ext cx="6065519" cy="3184256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18"/>
          <p:cNvSpPr/>
          <p:nvPr>
            <p:ph idx="3" type="pic"/>
          </p:nvPr>
        </p:nvSpPr>
        <p:spPr>
          <a:xfrm>
            <a:off x="6126480" y="3231643"/>
            <a:ext cx="6065523" cy="3172968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18"/>
          <p:cNvSpPr/>
          <p:nvPr>
            <p:ph idx="4" type="pic"/>
          </p:nvPr>
        </p:nvSpPr>
        <p:spPr>
          <a:xfrm>
            <a:off x="0" y="2"/>
            <a:ext cx="6065520" cy="3172968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18"/>
          <p:cNvSpPr/>
          <p:nvPr>
            <p:ph idx="5" type="pic"/>
          </p:nvPr>
        </p:nvSpPr>
        <p:spPr>
          <a:xfrm>
            <a:off x="6126480" y="2"/>
            <a:ext cx="6065523" cy="3172968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18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5" name="Google Shape;175;p18"/>
          <p:cNvGrpSpPr/>
          <p:nvPr/>
        </p:nvGrpSpPr>
        <p:grpSpPr>
          <a:xfrm>
            <a:off x="-74428" y="6408519"/>
            <a:ext cx="12310879" cy="466344"/>
            <a:chOff x="-74428" y="6408519"/>
            <a:chExt cx="12310879" cy="466344"/>
          </a:xfrm>
        </p:grpSpPr>
        <p:sp>
          <p:nvSpPr>
            <p:cNvPr id="176" name="Google Shape;176;p18"/>
            <p:cNvSpPr/>
            <p:nvPr/>
          </p:nvSpPr>
          <p:spPr>
            <a:xfrm>
              <a:off x="-74428" y="6408519"/>
              <a:ext cx="12310879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177" name="Google Shape;177;p18"/>
            <p:cNvPicPr preferRelativeResize="0"/>
            <p:nvPr/>
          </p:nvPicPr>
          <p:blipFill rotWithShape="1">
            <a:blip r:embed="rId2">
              <a:alphaModFix/>
            </a:blip>
            <a:srcRect b="23672" l="0" r="36862" t="0"/>
            <a:stretch/>
          </p:blipFill>
          <p:spPr>
            <a:xfrm>
              <a:off x="648697" y="6415800"/>
              <a:ext cx="1322344" cy="344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18"/>
            <p:cNvSpPr txBox="1"/>
            <p:nvPr/>
          </p:nvSpPr>
          <p:spPr>
            <a:xfrm>
              <a:off x="1957536" y="6540125"/>
              <a:ext cx="798507" cy="203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25" lIns="9125" spcFirstLastPara="1" rIns="9125" wrap="square" tIns="91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Master of Science in Financial Mathematics</a:t>
              </a:r>
              <a:endParaRPr/>
            </a:p>
          </p:txBody>
        </p:sp>
        <p:grpSp>
          <p:nvGrpSpPr>
            <p:cNvPr id="179" name="Google Shape;179;p18"/>
            <p:cNvGrpSpPr/>
            <p:nvPr/>
          </p:nvGrpSpPr>
          <p:grpSpPr>
            <a:xfrm>
              <a:off x="2808570" y="6484406"/>
              <a:ext cx="2215405" cy="301752"/>
              <a:chOff x="2808570" y="6484406"/>
              <a:chExt cx="2215405" cy="301752"/>
            </a:xfrm>
          </p:grpSpPr>
          <p:pic>
            <p:nvPicPr>
              <p:cNvPr id="180" name="Google Shape;180;p18"/>
              <p:cNvPicPr preferRelativeResize="0"/>
              <p:nvPr/>
            </p:nvPicPr>
            <p:blipFill rotWithShape="1">
              <a:blip r:embed="rId3">
                <a:alphaModFix/>
              </a:blip>
              <a:srcRect b="24010" l="6356" r="84818" t="22120"/>
              <a:stretch/>
            </p:blipFill>
            <p:spPr>
              <a:xfrm>
                <a:off x="2808570" y="6484406"/>
                <a:ext cx="223251" cy="3017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1" name="Google Shape;181;p18"/>
              <p:cNvSpPr txBox="1"/>
              <p:nvPr/>
            </p:nvSpPr>
            <p:spPr>
              <a:xfrm>
                <a:off x="3031821" y="6549104"/>
                <a:ext cx="1992154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25" lIns="9125" spcFirstLastPara="1" rIns="9125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chemeClr val="lt1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Physical Sciences Division</a:t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Shield" showMasterSp="0">
  <p:cSld name="Closing Slide Shield"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19"/>
          <p:cNvGrpSpPr/>
          <p:nvPr/>
        </p:nvGrpSpPr>
        <p:grpSpPr>
          <a:xfrm>
            <a:off x="6995160" y="-2087105"/>
            <a:ext cx="8384488" cy="10850515"/>
            <a:chOff x="3890639" y="-2045539"/>
            <a:chExt cx="8193228" cy="10603002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2">
              <a:alphaModFix amt="30000"/>
            </a:blip>
            <a:srcRect b="0" l="0" r="0" t="0"/>
            <a:stretch/>
          </p:blipFill>
          <p:spPr>
            <a:xfrm>
              <a:off x="3890639" y="-2045539"/>
              <a:ext cx="8193228" cy="1060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9"/>
            <p:cNvPicPr preferRelativeResize="0"/>
            <p:nvPr/>
          </p:nvPicPr>
          <p:blipFill rotWithShape="1">
            <a:blip r:embed="rId3">
              <a:alphaModFix amt="15000"/>
            </a:blip>
            <a:srcRect b="0" l="0" r="0" t="0"/>
            <a:stretch/>
          </p:blipFill>
          <p:spPr>
            <a:xfrm>
              <a:off x="5173001" y="727132"/>
              <a:ext cx="5641848" cy="49366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6" name="Google Shape;186;p19"/>
          <p:cNvSpPr txBox="1"/>
          <p:nvPr>
            <p:ph idx="1" type="body"/>
          </p:nvPr>
        </p:nvSpPr>
        <p:spPr>
          <a:xfrm>
            <a:off x="831852" y="2430928"/>
            <a:ext cx="5264149" cy="1991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rgbClr val="767676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7" name="Google Shape;187;p19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8" name="Google Shape;188;p19"/>
          <p:cNvGrpSpPr/>
          <p:nvPr/>
        </p:nvGrpSpPr>
        <p:grpSpPr>
          <a:xfrm>
            <a:off x="-74428" y="6408519"/>
            <a:ext cx="12310879" cy="466344"/>
            <a:chOff x="-74428" y="6408519"/>
            <a:chExt cx="12310879" cy="466344"/>
          </a:xfrm>
        </p:grpSpPr>
        <p:sp>
          <p:nvSpPr>
            <p:cNvPr id="189" name="Google Shape;189;p19"/>
            <p:cNvSpPr/>
            <p:nvPr/>
          </p:nvSpPr>
          <p:spPr>
            <a:xfrm>
              <a:off x="-74428" y="6408519"/>
              <a:ext cx="12310879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190" name="Google Shape;190;p19"/>
            <p:cNvPicPr preferRelativeResize="0"/>
            <p:nvPr/>
          </p:nvPicPr>
          <p:blipFill rotWithShape="1">
            <a:blip r:embed="rId4">
              <a:alphaModFix/>
            </a:blip>
            <a:srcRect b="23672" l="0" r="36862" t="0"/>
            <a:stretch/>
          </p:blipFill>
          <p:spPr>
            <a:xfrm>
              <a:off x="648697" y="6415800"/>
              <a:ext cx="1322344" cy="344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19"/>
            <p:cNvSpPr txBox="1"/>
            <p:nvPr/>
          </p:nvSpPr>
          <p:spPr>
            <a:xfrm>
              <a:off x="1957536" y="6540125"/>
              <a:ext cx="798507" cy="203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25" lIns="9125" spcFirstLastPara="1" rIns="9125" wrap="square" tIns="91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Master of Science in Financial Mathematics</a:t>
              </a:r>
              <a:endParaRPr/>
            </a:p>
          </p:txBody>
        </p:sp>
        <p:grpSp>
          <p:nvGrpSpPr>
            <p:cNvPr id="192" name="Google Shape;192;p19"/>
            <p:cNvGrpSpPr/>
            <p:nvPr/>
          </p:nvGrpSpPr>
          <p:grpSpPr>
            <a:xfrm>
              <a:off x="2808570" y="6484406"/>
              <a:ext cx="2215405" cy="301752"/>
              <a:chOff x="2808570" y="6484406"/>
              <a:chExt cx="2215405" cy="301752"/>
            </a:xfrm>
          </p:grpSpPr>
          <p:pic>
            <p:nvPicPr>
              <p:cNvPr id="193" name="Google Shape;193;p19"/>
              <p:cNvPicPr preferRelativeResize="0"/>
              <p:nvPr/>
            </p:nvPicPr>
            <p:blipFill rotWithShape="1">
              <a:blip r:embed="rId5">
                <a:alphaModFix/>
              </a:blip>
              <a:srcRect b="24010" l="6356" r="84818" t="22120"/>
              <a:stretch/>
            </p:blipFill>
            <p:spPr>
              <a:xfrm>
                <a:off x="2808570" y="6484406"/>
                <a:ext cx="223251" cy="3017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4" name="Google Shape;194;p19"/>
              <p:cNvSpPr txBox="1"/>
              <p:nvPr/>
            </p:nvSpPr>
            <p:spPr>
              <a:xfrm>
                <a:off x="3031821" y="6549104"/>
                <a:ext cx="1992154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25" lIns="9125" spcFirstLastPara="1" rIns="9125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chemeClr val="lt1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Physical Sciences Division</a:t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Grey Phoenix" showMasterSp="0">
  <p:cSld name="Closing Slide Grey Phoenix"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20"/>
          <p:cNvGrpSpPr/>
          <p:nvPr/>
        </p:nvGrpSpPr>
        <p:grpSpPr>
          <a:xfrm>
            <a:off x="0" y="6395644"/>
            <a:ext cx="12192000" cy="470922"/>
            <a:chOff x="0" y="6395644"/>
            <a:chExt cx="12192000" cy="470922"/>
          </a:xfrm>
        </p:grpSpPr>
        <p:sp>
          <p:nvSpPr>
            <p:cNvPr id="197" name="Google Shape;197;p20"/>
            <p:cNvSpPr/>
            <p:nvPr/>
          </p:nvSpPr>
          <p:spPr>
            <a:xfrm>
              <a:off x="0" y="6400222"/>
              <a:ext cx="12192000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198" name="Google Shape;198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03686" y="6407383"/>
              <a:ext cx="2094393" cy="4517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10607" y="6395644"/>
              <a:ext cx="2088055" cy="46235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0" name="Google Shape;200;p20"/>
            <p:cNvCxnSpPr/>
            <p:nvPr/>
          </p:nvCxnSpPr>
          <p:spPr>
            <a:xfrm>
              <a:off x="0" y="6395648"/>
              <a:ext cx="12192000" cy="0"/>
            </a:xfrm>
            <a:prstGeom prst="straightConnector1">
              <a:avLst/>
            </a:prstGeom>
            <a:noFill/>
            <a:ln cap="flat" cmpd="sng" w="9525">
              <a:solidFill>
                <a:srgbClr val="D6D6CE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201" name="Google Shape;201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63387" y="6410995"/>
              <a:ext cx="2040333" cy="4509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2" name="Google Shape;202;p20"/>
            <p:cNvCxnSpPr/>
            <p:nvPr/>
          </p:nvCxnSpPr>
          <p:spPr>
            <a:xfrm>
              <a:off x="2782306" y="6509932"/>
              <a:ext cx="0" cy="250701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3" name="Google Shape;203;p20"/>
            <p:cNvCxnSpPr/>
            <p:nvPr/>
          </p:nvCxnSpPr>
          <p:spPr>
            <a:xfrm>
              <a:off x="4138031" y="6509932"/>
              <a:ext cx="0" cy="250701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04" name="Google Shape;204;p20"/>
          <p:cNvSpPr txBox="1"/>
          <p:nvPr>
            <p:ph idx="1" type="body"/>
          </p:nvPr>
        </p:nvSpPr>
        <p:spPr>
          <a:xfrm>
            <a:off x="831852" y="2430928"/>
            <a:ext cx="5264149" cy="1991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rgbClr val="767676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5" name="Google Shape;205;p20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6" name="Google Shape;206;p20"/>
          <p:cNvPicPr preferRelativeResize="0"/>
          <p:nvPr/>
        </p:nvPicPr>
        <p:blipFill rotWithShape="1">
          <a:blip r:embed="rId5">
            <a:alphaModFix amt="15000"/>
          </a:blip>
          <a:srcRect b="0" l="0" r="0" t="0"/>
          <a:stretch/>
        </p:blipFill>
        <p:spPr>
          <a:xfrm>
            <a:off x="8307457" y="750290"/>
            <a:ext cx="5773549" cy="5051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Grey Bar" showMasterSp="0">
  <p:cSld name="Closing Slide Grey Bar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21"/>
          <p:cNvGrpSpPr/>
          <p:nvPr/>
        </p:nvGrpSpPr>
        <p:grpSpPr>
          <a:xfrm>
            <a:off x="8311896" y="0"/>
            <a:ext cx="5773549" cy="6400800"/>
            <a:chOff x="5156004" y="0"/>
            <a:chExt cx="5773549" cy="6400800"/>
          </a:xfrm>
        </p:grpSpPr>
        <p:sp>
          <p:nvSpPr>
            <p:cNvPr id="209" name="Google Shape;209;p21"/>
            <p:cNvSpPr/>
            <p:nvPr/>
          </p:nvSpPr>
          <p:spPr>
            <a:xfrm>
              <a:off x="5303520" y="0"/>
              <a:ext cx="3732588" cy="64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210" name="Google Shape;210;p21"/>
            <p:cNvPicPr preferRelativeResize="0"/>
            <p:nvPr/>
          </p:nvPicPr>
          <p:blipFill rotWithShape="1">
            <a:blip r:embed="rId2">
              <a:alphaModFix amt="15000"/>
            </a:blip>
            <a:srcRect b="0" l="0" r="0" t="0"/>
            <a:stretch/>
          </p:blipFill>
          <p:spPr>
            <a:xfrm>
              <a:off x="5156004" y="750290"/>
              <a:ext cx="5773549" cy="50518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1"/>
          <p:cNvSpPr txBox="1"/>
          <p:nvPr>
            <p:ph idx="1" type="body"/>
          </p:nvPr>
        </p:nvSpPr>
        <p:spPr>
          <a:xfrm>
            <a:off x="831852" y="2430928"/>
            <a:ext cx="5264149" cy="1991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rgbClr val="767676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2" name="Google Shape;212;p21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3" name="Google Shape;213;p21"/>
          <p:cNvGrpSpPr/>
          <p:nvPr/>
        </p:nvGrpSpPr>
        <p:grpSpPr>
          <a:xfrm>
            <a:off x="-74428" y="6408519"/>
            <a:ext cx="12310879" cy="466344"/>
            <a:chOff x="-74428" y="6408519"/>
            <a:chExt cx="12310879" cy="466344"/>
          </a:xfrm>
        </p:grpSpPr>
        <p:sp>
          <p:nvSpPr>
            <p:cNvPr id="214" name="Google Shape;214;p21"/>
            <p:cNvSpPr/>
            <p:nvPr/>
          </p:nvSpPr>
          <p:spPr>
            <a:xfrm>
              <a:off x="-74428" y="6408519"/>
              <a:ext cx="12310879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215" name="Google Shape;215;p21"/>
            <p:cNvPicPr preferRelativeResize="0"/>
            <p:nvPr/>
          </p:nvPicPr>
          <p:blipFill rotWithShape="1">
            <a:blip r:embed="rId3">
              <a:alphaModFix/>
            </a:blip>
            <a:srcRect b="23672" l="0" r="36862" t="0"/>
            <a:stretch/>
          </p:blipFill>
          <p:spPr>
            <a:xfrm>
              <a:off x="648697" y="6415800"/>
              <a:ext cx="1322344" cy="344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21"/>
            <p:cNvSpPr txBox="1"/>
            <p:nvPr/>
          </p:nvSpPr>
          <p:spPr>
            <a:xfrm>
              <a:off x="1957536" y="6540125"/>
              <a:ext cx="798507" cy="203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25" lIns="9125" spcFirstLastPara="1" rIns="9125" wrap="square" tIns="91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Master of Science in Financial Mathematics</a:t>
              </a:r>
              <a:endParaRPr/>
            </a:p>
          </p:txBody>
        </p:sp>
        <p:grpSp>
          <p:nvGrpSpPr>
            <p:cNvPr id="217" name="Google Shape;217;p21"/>
            <p:cNvGrpSpPr/>
            <p:nvPr/>
          </p:nvGrpSpPr>
          <p:grpSpPr>
            <a:xfrm>
              <a:off x="2808570" y="6484406"/>
              <a:ext cx="2215405" cy="301752"/>
              <a:chOff x="2808570" y="6484406"/>
              <a:chExt cx="2215405" cy="301752"/>
            </a:xfrm>
          </p:grpSpPr>
          <p:pic>
            <p:nvPicPr>
              <p:cNvPr id="218" name="Google Shape;218;p21"/>
              <p:cNvPicPr preferRelativeResize="0"/>
              <p:nvPr/>
            </p:nvPicPr>
            <p:blipFill rotWithShape="1">
              <a:blip r:embed="rId4">
                <a:alphaModFix/>
              </a:blip>
              <a:srcRect b="24010" l="6356" r="84818" t="22120"/>
              <a:stretch/>
            </p:blipFill>
            <p:spPr>
              <a:xfrm>
                <a:off x="2808570" y="6484406"/>
                <a:ext cx="223251" cy="3017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9" name="Google Shape;219;p21"/>
              <p:cNvSpPr txBox="1"/>
              <p:nvPr/>
            </p:nvSpPr>
            <p:spPr>
              <a:xfrm>
                <a:off x="3031821" y="6549104"/>
                <a:ext cx="1992154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25" lIns="9125" spcFirstLastPara="1" rIns="9125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chemeClr val="lt1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Physical Sciences Division</a:t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Dark Greystone" showMasterSp="0">
  <p:cSld name="Closing Slide Dark Greystone">
    <p:bg>
      <p:bgPr>
        <a:solidFill>
          <a:schemeClr val="dk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22"/>
          <p:cNvGrpSpPr/>
          <p:nvPr/>
        </p:nvGrpSpPr>
        <p:grpSpPr>
          <a:xfrm>
            <a:off x="8311896" y="0"/>
            <a:ext cx="5773549" cy="6400800"/>
            <a:chOff x="5156004" y="0"/>
            <a:chExt cx="5773549" cy="6400800"/>
          </a:xfrm>
        </p:grpSpPr>
        <p:sp>
          <p:nvSpPr>
            <p:cNvPr id="222" name="Google Shape;222;p22"/>
            <p:cNvSpPr/>
            <p:nvPr/>
          </p:nvSpPr>
          <p:spPr>
            <a:xfrm>
              <a:off x="5303520" y="0"/>
              <a:ext cx="3732588" cy="64008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223" name="Google Shape;223;p22"/>
            <p:cNvPicPr preferRelativeResize="0"/>
            <p:nvPr/>
          </p:nvPicPr>
          <p:blipFill rotWithShape="1">
            <a:blip r:embed="rId2">
              <a:alphaModFix amt="30000"/>
            </a:blip>
            <a:srcRect b="0" l="0" r="0" t="0"/>
            <a:stretch/>
          </p:blipFill>
          <p:spPr>
            <a:xfrm>
              <a:off x="5156004" y="750290"/>
              <a:ext cx="5773549" cy="50518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4" name="Google Shape;224;p22"/>
          <p:cNvSpPr txBox="1"/>
          <p:nvPr>
            <p:ph idx="1" type="body"/>
          </p:nvPr>
        </p:nvSpPr>
        <p:spPr>
          <a:xfrm>
            <a:off x="831852" y="2430928"/>
            <a:ext cx="5264149" cy="1991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5" name="Google Shape;225;p22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26" name="Google Shape;226;p22"/>
          <p:cNvGrpSpPr/>
          <p:nvPr/>
        </p:nvGrpSpPr>
        <p:grpSpPr>
          <a:xfrm>
            <a:off x="-74428" y="6408519"/>
            <a:ext cx="12310879" cy="466344"/>
            <a:chOff x="-74428" y="6408519"/>
            <a:chExt cx="12310879" cy="466344"/>
          </a:xfrm>
        </p:grpSpPr>
        <p:sp>
          <p:nvSpPr>
            <p:cNvPr id="227" name="Google Shape;227;p22"/>
            <p:cNvSpPr/>
            <p:nvPr/>
          </p:nvSpPr>
          <p:spPr>
            <a:xfrm>
              <a:off x="-74428" y="6408519"/>
              <a:ext cx="12310879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228" name="Google Shape;228;p22"/>
            <p:cNvPicPr preferRelativeResize="0"/>
            <p:nvPr/>
          </p:nvPicPr>
          <p:blipFill rotWithShape="1">
            <a:blip r:embed="rId3">
              <a:alphaModFix/>
            </a:blip>
            <a:srcRect b="23672" l="0" r="36862" t="0"/>
            <a:stretch/>
          </p:blipFill>
          <p:spPr>
            <a:xfrm>
              <a:off x="648697" y="6415800"/>
              <a:ext cx="1322344" cy="344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22"/>
            <p:cNvSpPr txBox="1"/>
            <p:nvPr/>
          </p:nvSpPr>
          <p:spPr>
            <a:xfrm>
              <a:off x="1957536" y="6540125"/>
              <a:ext cx="798507" cy="203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25" lIns="9125" spcFirstLastPara="1" rIns="9125" wrap="square" tIns="91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Master of Science in Financial Mathematics</a:t>
              </a:r>
              <a:endParaRPr/>
            </a:p>
          </p:txBody>
        </p:sp>
        <p:grpSp>
          <p:nvGrpSpPr>
            <p:cNvPr id="230" name="Google Shape;230;p22"/>
            <p:cNvGrpSpPr/>
            <p:nvPr/>
          </p:nvGrpSpPr>
          <p:grpSpPr>
            <a:xfrm>
              <a:off x="2808570" y="6484406"/>
              <a:ext cx="2215405" cy="301752"/>
              <a:chOff x="2808570" y="6484406"/>
              <a:chExt cx="2215405" cy="301752"/>
            </a:xfrm>
          </p:grpSpPr>
          <p:pic>
            <p:nvPicPr>
              <p:cNvPr id="231" name="Google Shape;231;p22"/>
              <p:cNvPicPr preferRelativeResize="0"/>
              <p:nvPr/>
            </p:nvPicPr>
            <p:blipFill rotWithShape="1">
              <a:blip r:embed="rId4">
                <a:alphaModFix/>
              </a:blip>
              <a:srcRect b="24010" l="6356" r="84818" t="22120"/>
              <a:stretch/>
            </p:blipFill>
            <p:spPr>
              <a:xfrm>
                <a:off x="2808570" y="6484406"/>
                <a:ext cx="223251" cy="3017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2" name="Google Shape;232;p22"/>
              <p:cNvSpPr txBox="1"/>
              <p:nvPr/>
            </p:nvSpPr>
            <p:spPr>
              <a:xfrm>
                <a:off x="3031821" y="6549104"/>
                <a:ext cx="1992154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25" lIns="9125" spcFirstLastPara="1" rIns="9125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chemeClr val="lt1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Physical Sciences Division</a:t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ey Bar" showMasterSp="0">
  <p:cSld name="Title Slide Grey Bar"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23"/>
          <p:cNvGrpSpPr/>
          <p:nvPr/>
        </p:nvGrpSpPr>
        <p:grpSpPr>
          <a:xfrm>
            <a:off x="8311896" y="0"/>
            <a:ext cx="5773549" cy="6400800"/>
            <a:chOff x="5156004" y="0"/>
            <a:chExt cx="5773549" cy="6400800"/>
          </a:xfrm>
        </p:grpSpPr>
        <p:sp>
          <p:nvSpPr>
            <p:cNvPr id="235" name="Google Shape;235;p23"/>
            <p:cNvSpPr/>
            <p:nvPr/>
          </p:nvSpPr>
          <p:spPr>
            <a:xfrm>
              <a:off x="5303520" y="0"/>
              <a:ext cx="3840480" cy="64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236" name="Google Shape;236;p23"/>
            <p:cNvPicPr preferRelativeResize="0"/>
            <p:nvPr/>
          </p:nvPicPr>
          <p:blipFill rotWithShape="1">
            <a:blip r:embed="rId2">
              <a:alphaModFix amt="15000"/>
            </a:blip>
            <a:srcRect b="0" l="0" r="0" t="0"/>
            <a:stretch/>
          </p:blipFill>
          <p:spPr>
            <a:xfrm>
              <a:off x="5156004" y="750290"/>
              <a:ext cx="5773549" cy="50518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" name="Google Shape;237;p23"/>
          <p:cNvSpPr txBox="1"/>
          <p:nvPr>
            <p:ph type="ctrTitle"/>
          </p:nvPr>
        </p:nvSpPr>
        <p:spPr>
          <a:xfrm>
            <a:off x="914400" y="1201106"/>
            <a:ext cx="558393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  <a:defRPr b="0" i="0" sz="4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3"/>
          <p:cNvSpPr txBox="1"/>
          <p:nvPr>
            <p:ph idx="1" type="subTitle"/>
          </p:nvPr>
        </p:nvSpPr>
        <p:spPr>
          <a:xfrm>
            <a:off x="950579" y="3680781"/>
            <a:ext cx="5551823" cy="623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239" name="Google Shape;239;p23"/>
          <p:cNvGrpSpPr/>
          <p:nvPr/>
        </p:nvGrpSpPr>
        <p:grpSpPr>
          <a:xfrm>
            <a:off x="-74428" y="6408519"/>
            <a:ext cx="12310879" cy="466344"/>
            <a:chOff x="-74428" y="6408519"/>
            <a:chExt cx="12310879" cy="466344"/>
          </a:xfrm>
        </p:grpSpPr>
        <p:sp>
          <p:nvSpPr>
            <p:cNvPr id="240" name="Google Shape;240;p23"/>
            <p:cNvSpPr/>
            <p:nvPr/>
          </p:nvSpPr>
          <p:spPr>
            <a:xfrm>
              <a:off x="-74428" y="6408519"/>
              <a:ext cx="12310879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241" name="Google Shape;241;p23"/>
            <p:cNvPicPr preferRelativeResize="0"/>
            <p:nvPr/>
          </p:nvPicPr>
          <p:blipFill rotWithShape="1">
            <a:blip r:embed="rId3">
              <a:alphaModFix/>
            </a:blip>
            <a:srcRect b="23672" l="0" r="36862" t="0"/>
            <a:stretch/>
          </p:blipFill>
          <p:spPr>
            <a:xfrm>
              <a:off x="648697" y="6415800"/>
              <a:ext cx="1322344" cy="344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3"/>
            <p:cNvSpPr txBox="1"/>
            <p:nvPr/>
          </p:nvSpPr>
          <p:spPr>
            <a:xfrm>
              <a:off x="1957536" y="6540125"/>
              <a:ext cx="798507" cy="203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25" lIns="9125" spcFirstLastPara="1" rIns="9125" wrap="square" tIns="91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Master of Science in Financial Mathematics</a:t>
              </a:r>
              <a:endParaRPr/>
            </a:p>
          </p:txBody>
        </p:sp>
        <p:grpSp>
          <p:nvGrpSpPr>
            <p:cNvPr id="243" name="Google Shape;243;p23"/>
            <p:cNvGrpSpPr/>
            <p:nvPr/>
          </p:nvGrpSpPr>
          <p:grpSpPr>
            <a:xfrm>
              <a:off x="2808570" y="6484406"/>
              <a:ext cx="2215405" cy="301752"/>
              <a:chOff x="2808570" y="6484406"/>
              <a:chExt cx="2215405" cy="301752"/>
            </a:xfrm>
          </p:grpSpPr>
          <p:pic>
            <p:nvPicPr>
              <p:cNvPr id="244" name="Google Shape;244;p23"/>
              <p:cNvPicPr preferRelativeResize="0"/>
              <p:nvPr/>
            </p:nvPicPr>
            <p:blipFill rotWithShape="1">
              <a:blip r:embed="rId4">
                <a:alphaModFix/>
              </a:blip>
              <a:srcRect b="24010" l="6356" r="84818" t="22120"/>
              <a:stretch/>
            </p:blipFill>
            <p:spPr>
              <a:xfrm>
                <a:off x="2808570" y="6484406"/>
                <a:ext cx="223251" cy="3017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5" name="Google Shape;245;p23"/>
              <p:cNvSpPr txBox="1"/>
              <p:nvPr/>
            </p:nvSpPr>
            <p:spPr>
              <a:xfrm>
                <a:off x="3031821" y="6549104"/>
                <a:ext cx="1992154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25" lIns="9125" spcFirstLastPara="1" rIns="9125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chemeClr val="lt1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Physical Sciences Division</a:t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 txBox="1"/>
          <p:nvPr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b="0" i="0"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b="0" i="0"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b="0" i="0"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 i="0" sz="16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b="0" i="0"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b="0" i="0"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b="0" i="0"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 i="0" sz="16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0" name="Google Shape;250;p24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1.xml"/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26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3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"/>
          <p:cNvCxnSpPr/>
          <p:nvPr/>
        </p:nvCxnSpPr>
        <p:spPr>
          <a:xfrm>
            <a:off x="44450" y="640211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D6D6CE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" name="Google Shape;11;p1"/>
          <p:cNvCxnSpPr/>
          <p:nvPr/>
        </p:nvCxnSpPr>
        <p:spPr>
          <a:xfrm>
            <a:off x="2782306" y="6509932"/>
            <a:ext cx="0" cy="250701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" name="Google Shape;12;p1"/>
          <p:cNvSpPr txBox="1"/>
          <p:nvPr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 sz="3600" u="none" cap="none" strike="noStrike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838200" y="1534136"/>
            <a:ext cx="10515600" cy="4429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676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676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676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676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7676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"/>
          <p:cNvCxnSpPr/>
          <p:nvPr/>
        </p:nvCxnSpPr>
        <p:spPr>
          <a:xfrm>
            <a:off x="0" y="1344113"/>
            <a:ext cx="12192000" cy="0"/>
          </a:xfrm>
          <a:prstGeom prst="straightConnector1">
            <a:avLst/>
          </a:prstGeom>
          <a:noFill/>
          <a:ln cap="flat" cmpd="sng" w="38100">
            <a:solidFill>
              <a:srgbClr val="D6D6CE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6" name="Google Shape;16;p1"/>
          <p:cNvGrpSpPr/>
          <p:nvPr/>
        </p:nvGrpSpPr>
        <p:grpSpPr>
          <a:xfrm>
            <a:off x="-74428" y="6408519"/>
            <a:ext cx="12310879" cy="466344"/>
            <a:chOff x="-74428" y="6408519"/>
            <a:chExt cx="12310879" cy="466344"/>
          </a:xfrm>
        </p:grpSpPr>
        <p:sp>
          <p:nvSpPr>
            <p:cNvPr id="17" name="Google Shape;17;p1"/>
            <p:cNvSpPr/>
            <p:nvPr/>
          </p:nvSpPr>
          <p:spPr>
            <a:xfrm>
              <a:off x="-74428" y="6408519"/>
              <a:ext cx="12310879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18" name="Google Shape;18;p1"/>
            <p:cNvPicPr preferRelativeResize="0"/>
            <p:nvPr/>
          </p:nvPicPr>
          <p:blipFill rotWithShape="1">
            <a:blip r:embed="rId1">
              <a:alphaModFix/>
            </a:blip>
            <a:srcRect b="23672" l="0" r="36862" t="0"/>
            <a:stretch/>
          </p:blipFill>
          <p:spPr>
            <a:xfrm>
              <a:off x="648697" y="6415800"/>
              <a:ext cx="1322344" cy="344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1"/>
            <p:cNvSpPr txBox="1"/>
            <p:nvPr/>
          </p:nvSpPr>
          <p:spPr>
            <a:xfrm>
              <a:off x="1957536" y="6540125"/>
              <a:ext cx="798507" cy="203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25" lIns="9125" spcFirstLastPara="1" rIns="9125" wrap="square" tIns="91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" u="none" cap="none" strike="noStrike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Master of Science in Financial Mathematics</a:t>
              </a:r>
              <a:endParaRPr/>
            </a:p>
          </p:txBody>
        </p:sp>
        <p:grpSp>
          <p:nvGrpSpPr>
            <p:cNvPr id="20" name="Google Shape;20;p1"/>
            <p:cNvGrpSpPr/>
            <p:nvPr/>
          </p:nvGrpSpPr>
          <p:grpSpPr>
            <a:xfrm>
              <a:off x="2808570" y="6484406"/>
              <a:ext cx="2215405" cy="301752"/>
              <a:chOff x="2808570" y="6484406"/>
              <a:chExt cx="2215405" cy="301752"/>
            </a:xfrm>
          </p:grpSpPr>
          <p:pic>
            <p:nvPicPr>
              <p:cNvPr id="21" name="Google Shape;21;p1"/>
              <p:cNvPicPr preferRelativeResize="0"/>
              <p:nvPr/>
            </p:nvPicPr>
            <p:blipFill rotWithShape="1">
              <a:blip r:embed="rId2">
                <a:alphaModFix/>
              </a:blip>
              <a:srcRect b="24010" l="6356" r="84818" t="22120"/>
              <a:stretch/>
            </p:blipFill>
            <p:spPr>
              <a:xfrm>
                <a:off x="2808570" y="6484406"/>
                <a:ext cx="223251" cy="3017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" name="Google Shape;22;p1"/>
              <p:cNvSpPr txBox="1"/>
              <p:nvPr/>
            </p:nvSpPr>
            <p:spPr>
              <a:xfrm>
                <a:off x="3031821" y="6549104"/>
                <a:ext cx="1992154" cy="172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25" lIns="9125" spcFirstLastPara="1" rIns="9125" wrap="square" tIns="912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chemeClr val="lt1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Physical Sciences Division</a:t>
                </a:r>
                <a:endParaRPr/>
              </a:p>
            </p:txBody>
          </p:sp>
        </p:grp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  <p:sldLayoutId id="2147483668" r:id="rId23"/>
    <p:sldLayoutId id="2147483669" r:id="rId24"/>
    <p:sldLayoutId id="2147483670" r:id="rId25"/>
    <p:sldLayoutId id="2147483671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type="ctrTitle"/>
          </p:nvPr>
        </p:nvSpPr>
        <p:spPr>
          <a:xfrm>
            <a:off x="914400" y="1201106"/>
            <a:ext cx="558393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/>
              <a:t>Cross-Asset Signals for FX Futures Trading</a:t>
            </a:r>
            <a:endParaRPr b="1" sz="3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elvetica Neue"/>
              <a:buNone/>
            </a:pPr>
            <a:r>
              <a:t/>
            </a:r>
            <a:endParaRPr sz="3600"/>
          </a:p>
        </p:txBody>
      </p:sp>
      <p:sp>
        <p:nvSpPr>
          <p:cNvPr id="258" name="Google Shape;258;p26"/>
          <p:cNvSpPr txBox="1"/>
          <p:nvPr>
            <p:ph idx="1" type="subTitle"/>
          </p:nvPr>
        </p:nvSpPr>
        <p:spPr>
          <a:xfrm>
            <a:off x="950575" y="3680761"/>
            <a:ext cx="5551800" cy="20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Adith Srinivasan: 12255557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Andrew Moukabary: 12311312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Cole Koryto: 12506473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Jonathan Kim: 12506556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William ‘Scott’ Hanna: 12496698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"/>
          <p:cNvSpPr txBox="1"/>
          <p:nvPr>
            <p:ph type="title"/>
          </p:nvPr>
        </p:nvSpPr>
        <p:spPr>
          <a:xfrm>
            <a:off x="839788" y="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</a:pPr>
            <a:r>
              <a:rPr lang="en-US"/>
              <a:t>Strategy overview</a:t>
            </a:r>
            <a:endParaRPr/>
          </a:p>
        </p:txBody>
      </p:sp>
      <p:sp>
        <p:nvSpPr>
          <p:cNvPr id="264" name="Google Shape;264;p27"/>
          <p:cNvSpPr txBox="1"/>
          <p:nvPr>
            <p:ph idx="1" type="body"/>
          </p:nvPr>
        </p:nvSpPr>
        <p:spPr>
          <a:xfrm>
            <a:off x="837150" y="679936"/>
            <a:ext cx="10441500" cy="53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Helvetica Neue"/>
              <a:buChar char="●"/>
            </a:pPr>
            <a:r>
              <a:rPr lang="en-US" sz="2600">
                <a:solidFill>
                  <a:schemeClr val="accent1"/>
                </a:solidFill>
              </a:rPr>
              <a:t>Use excess equity market returns to identify FX futures opportunities</a:t>
            </a:r>
            <a:endParaRPr sz="2600">
              <a:solidFill>
                <a:schemeClr val="accent1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Char char="●"/>
            </a:pPr>
            <a:r>
              <a:rPr lang="en-US" sz="2600">
                <a:solidFill>
                  <a:schemeClr val="accent1"/>
                </a:solidFill>
              </a:rPr>
              <a:t>Generate signals by isolating FX movements related to country’s equity performance</a:t>
            </a:r>
            <a:endParaRPr sz="2600">
              <a:solidFill>
                <a:schemeClr val="accent1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Char char="●"/>
            </a:pPr>
            <a:r>
              <a:rPr lang="en-US" sz="2600">
                <a:solidFill>
                  <a:schemeClr val="accent1"/>
                </a:solidFill>
              </a:rPr>
              <a:t>… (More to come once performance analysis is complete)</a:t>
            </a:r>
            <a:endParaRPr sz="26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265" name="Google Shape;265;p27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 txBox="1"/>
          <p:nvPr>
            <p:ph type="title"/>
          </p:nvPr>
        </p:nvSpPr>
        <p:spPr>
          <a:xfrm>
            <a:off x="839788" y="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271" name="Google Shape;271;p28"/>
          <p:cNvSpPr txBox="1"/>
          <p:nvPr>
            <p:ph idx="1" type="body"/>
          </p:nvPr>
        </p:nvSpPr>
        <p:spPr>
          <a:xfrm>
            <a:off x="837150" y="1447350"/>
            <a:ext cx="10441500" cy="53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 lnSpcReduction="10000"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Char char="●"/>
            </a:pPr>
            <a:r>
              <a:rPr lang="en-US" sz="2600">
                <a:solidFill>
                  <a:schemeClr val="accent1"/>
                </a:solidFill>
              </a:rPr>
              <a:t>Strong foreign equity performance attracts capital</a:t>
            </a:r>
            <a:endParaRPr sz="2600">
              <a:solidFill>
                <a:schemeClr val="accent1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Char char="●"/>
            </a:pPr>
            <a:r>
              <a:rPr lang="en-US" sz="2600">
                <a:solidFill>
                  <a:schemeClr val="accent1"/>
                </a:solidFill>
              </a:rPr>
              <a:t>Investing in foreign markets requires </a:t>
            </a:r>
            <a:r>
              <a:rPr lang="en-US" sz="2600">
                <a:solidFill>
                  <a:schemeClr val="accent1"/>
                </a:solidFill>
              </a:rPr>
              <a:t>buying and </a:t>
            </a:r>
            <a:r>
              <a:rPr lang="en-US" sz="2600">
                <a:solidFill>
                  <a:schemeClr val="accent1"/>
                </a:solidFill>
              </a:rPr>
              <a:t>transacting in the local currency</a:t>
            </a:r>
            <a:endParaRPr sz="2600">
              <a:solidFill>
                <a:schemeClr val="accent1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Char char="●"/>
            </a:pPr>
            <a:r>
              <a:rPr lang="en-US" sz="2600"/>
              <a:t>Problems: </a:t>
            </a:r>
            <a:endParaRPr sz="2600"/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Char char="○"/>
            </a:pPr>
            <a:r>
              <a:rPr lang="en-US" sz="2200"/>
              <a:t>Exchanging Currencies is time consuming and inefficient because of how FX markets work</a:t>
            </a:r>
            <a:endParaRPr sz="2200"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FX rate appreciates when investors rebalance in the same direction and the market cannot absorb order flow</a:t>
            </a:r>
            <a:endParaRPr sz="22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Goal: Profit of the lead-lag relationship caused by such problems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272" name="Google Shape;272;p28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 txBox="1"/>
          <p:nvPr>
            <p:ph type="title"/>
          </p:nvPr>
        </p:nvSpPr>
        <p:spPr>
          <a:xfrm>
            <a:off x="839788" y="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</a:pPr>
            <a:r>
              <a:rPr lang="en-US"/>
              <a:t>Trading Hypothesis 1</a:t>
            </a:r>
            <a:endParaRPr/>
          </a:p>
        </p:txBody>
      </p:sp>
      <p:sp>
        <p:nvSpPr>
          <p:cNvPr id="278" name="Google Shape;278;p29"/>
          <p:cNvSpPr txBox="1"/>
          <p:nvPr>
            <p:ph idx="1" type="body"/>
          </p:nvPr>
        </p:nvSpPr>
        <p:spPr>
          <a:xfrm>
            <a:off x="837150" y="1106277"/>
            <a:ext cx="10441500" cy="54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-394729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16"/>
              <a:buChar char="●"/>
            </a:pPr>
            <a:r>
              <a:rPr lang="en-US" sz="2616"/>
              <a:t>There exists a lead-lag relationship between a country’s stock </a:t>
            </a:r>
            <a:r>
              <a:rPr lang="en-US" sz="2616"/>
              <a:t>indices</a:t>
            </a:r>
            <a:r>
              <a:rPr lang="en-US" sz="2616"/>
              <a:t> and the exchange rate of the </a:t>
            </a:r>
            <a:r>
              <a:rPr lang="en-US" sz="2616"/>
              <a:t>country’s </a:t>
            </a:r>
            <a:r>
              <a:rPr lang="en-US" sz="2616"/>
              <a:t>currency</a:t>
            </a:r>
            <a:endParaRPr b="0" sz="2616">
              <a:solidFill>
                <a:srgbClr val="800000"/>
              </a:solidFill>
            </a:endParaRPr>
          </a:p>
          <a:p>
            <a:pPr indent="-394729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16"/>
              <a:buChar char="○"/>
            </a:pPr>
            <a:r>
              <a:rPr lang="en-US" sz="2216"/>
              <a:t>Ex: A strong performance of the Nikkei 225 will be followed by an appreciation of the yen in FX markets</a:t>
            </a:r>
            <a:endParaRPr sz="2216"/>
          </a:p>
          <a:p>
            <a:pPr indent="-394729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16"/>
              <a:buChar char="●"/>
            </a:pPr>
            <a:r>
              <a:rPr lang="en-US" sz="2616">
                <a:solidFill>
                  <a:schemeClr val="accent1"/>
                </a:solidFill>
              </a:rPr>
              <a:t>Economic Intuition: A s</a:t>
            </a:r>
            <a:r>
              <a:rPr lang="en-US" sz="2616">
                <a:solidFill>
                  <a:schemeClr val="accent1"/>
                </a:solidFill>
              </a:rPr>
              <a:t>trong performance in a country’s equity markets will attract international investors looking to take advantage of a bull market. These investors will need to convert to the foreign currency, driving up the exchange rate</a:t>
            </a:r>
            <a:endParaRPr sz="2616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200">
              <a:solidFill>
                <a:schemeClr val="accent1"/>
              </a:solidFill>
            </a:endParaRPr>
          </a:p>
        </p:txBody>
      </p:sp>
      <p:sp>
        <p:nvSpPr>
          <p:cNvPr id="279" name="Google Shape;279;p29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"/>
          <p:cNvSpPr txBox="1"/>
          <p:nvPr>
            <p:ph type="title"/>
          </p:nvPr>
        </p:nvSpPr>
        <p:spPr>
          <a:xfrm>
            <a:off x="839788" y="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</a:pPr>
            <a:r>
              <a:rPr lang="en-US"/>
              <a:t>Trading Hypothesis 2</a:t>
            </a:r>
            <a:endParaRPr/>
          </a:p>
        </p:txBody>
      </p:sp>
      <p:sp>
        <p:nvSpPr>
          <p:cNvPr id="285" name="Google Shape;285;p30"/>
          <p:cNvSpPr txBox="1"/>
          <p:nvPr>
            <p:ph idx="1" type="body"/>
          </p:nvPr>
        </p:nvSpPr>
        <p:spPr>
          <a:xfrm>
            <a:off x="876850" y="1075020"/>
            <a:ext cx="10441500" cy="49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accent1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Char char="●"/>
            </a:pPr>
            <a:r>
              <a:rPr lang="en-US" sz="2600">
                <a:solidFill>
                  <a:schemeClr val="accent1"/>
                </a:solidFill>
              </a:rPr>
              <a:t>The lag in the relationships previously mentioned, will be larger in less liquid FX markets</a:t>
            </a:r>
            <a:endParaRPr sz="2600">
              <a:solidFill>
                <a:schemeClr val="accent1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</a:pPr>
            <a:r>
              <a:rPr lang="en-US" sz="2200">
                <a:solidFill>
                  <a:schemeClr val="dk2"/>
                </a:solidFill>
              </a:rPr>
              <a:t>Ex: The lag in the currency appreciation in Zimbabwe will be larger than the lag in Great Britain</a:t>
            </a:r>
            <a:endParaRPr sz="2600">
              <a:solidFill>
                <a:schemeClr val="accent1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Char char="●"/>
            </a:pPr>
            <a:r>
              <a:rPr lang="en-US" sz="2600">
                <a:solidFill>
                  <a:schemeClr val="accent1"/>
                </a:solidFill>
              </a:rPr>
              <a:t>Economic Intuition: Less liquid FX markets adjust more slowly to new information because trading depth is limited. As a result, capital flows take longer to move prices, leading to larger lags in exchange rate responses</a:t>
            </a:r>
            <a:endParaRPr sz="26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286" name="Google Shape;286;p30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 txBox="1"/>
          <p:nvPr>
            <p:ph type="title"/>
          </p:nvPr>
        </p:nvSpPr>
        <p:spPr>
          <a:xfrm>
            <a:off x="839788" y="3"/>
            <a:ext cx="10515600" cy="13257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</a:t>
            </a:r>
            <a:endParaRPr/>
          </a:p>
        </p:txBody>
      </p:sp>
      <p:sp>
        <p:nvSpPr>
          <p:cNvPr id="293" name="Google Shape;293;p31"/>
          <p:cNvSpPr txBox="1"/>
          <p:nvPr>
            <p:ph idx="1" type="body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/>
              <a:t>Data Sources</a:t>
            </a:r>
            <a:endParaRPr sz="3000"/>
          </a:p>
        </p:txBody>
      </p:sp>
      <p:sp>
        <p:nvSpPr>
          <p:cNvPr id="294" name="Google Shape;294;p31"/>
          <p:cNvSpPr txBox="1"/>
          <p:nvPr>
            <p:ph idx="2" type="body"/>
          </p:nvPr>
        </p:nvSpPr>
        <p:spPr>
          <a:xfrm>
            <a:off x="839789" y="2505078"/>
            <a:ext cx="5157900" cy="34005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Helvetica Neue"/>
              <a:buChar char="•"/>
            </a:pPr>
            <a:r>
              <a:rPr lang="en-US" sz="2600">
                <a:solidFill>
                  <a:schemeClr val="accent1"/>
                </a:solidFill>
              </a:rPr>
              <a:t>CDS Data: Bloomberg</a:t>
            </a:r>
            <a:endParaRPr sz="2600">
              <a:solidFill>
                <a:schemeClr val="accent1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Helvetica Neue"/>
              <a:buChar char="•"/>
            </a:pPr>
            <a:r>
              <a:rPr lang="en-US" sz="2600">
                <a:solidFill>
                  <a:schemeClr val="accent1"/>
                </a:solidFill>
              </a:rPr>
              <a:t>Equity Data: Bloomberg</a:t>
            </a:r>
            <a:endParaRPr sz="2600">
              <a:solidFill>
                <a:schemeClr val="accent1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Helvetica Neue"/>
              <a:buChar char="•"/>
            </a:pPr>
            <a:r>
              <a:rPr lang="en-US" sz="2600">
                <a:solidFill>
                  <a:schemeClr val="accent1"/>
                </a:solidFill>
              </a:rPr>
              <a:t>FX Spot Rate Data: FRED</a:t>
            </a:r>
            <a:endParaRPr sz="2600">
              <a:solidFill>
                <a:schemeClr val="accent1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Helvetica Neue"/>
              <a:buChar char="•"/>
            </a:pPr>
            <a:r>
              <a:rPr lang="en-US" sz="2600">
                <a:solidFill>
                  <a:schemeClr val="accent1"/>
                </a:solidFill>
              </a:rPr>
              <a:t>FX Future Data: CME</a:t>
            </a:r>
            <a:endParaRPr sz="26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1"/>
          <p:cNvSpPr txBox="1"/>
          <p:nvPr>
            <p:ph idx="3" type="body"/>
          </p:nvPr>
        </p:nvSpPr>
        <p:spPr>
          <a:xfrm>
            <a:off x="6172202" y="1681163"/>
            <a:ext cx="5183100" cy="8238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/>
              <a:t>Investment Universe</a:t>
            </a:r>
            <a:endParaRPr sz="3000"/>
          </a:p>
        </p:txBody>
      </p:sp>
      <p:sp>
        <p:nvSpPr>
          <p:cNvPr id="296" name="Google Shape;296;p31"/>
          <p:cNvSpPr txBox="1"/>
          <p:nvPr>
            <p:ph idx="4" type="body"/>
          </p:nvPr>
        </p:nvSpPr>
        <p:spPr>
          <a:xfrm>
            <a:off x="6172202" y="2505078"/>
            <a:ext cx="5183100" cy="34005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Helvetica Neue"/>
              <a:buChar char="•"/>
            </a:pPr>
            <a:r>
              <a:rPr lang="en-US" sz="2600">
                <a:solidFill>
                  <a:schemeClr val="accent1"/>
                </a:solidFill>
              </a:rPr>
              <a:t>FX Futures (CME)</a:t>
            </a:r>
            <a:endParaRPr sz="26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US" sz="1800"/>
              <a:t>Note: </a:t>
            </a:r>
            <a:r>
              <a:rPr lang="en-US" sz="1800"/>
              <a:t>As proof of concept, investment universe for hypothesis testing is restricted to…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800"/>
              <a:buFont typeface="Helvetica Neue"/>
              <a:buChar char="•"/>
            </a:pPr>
            <a:r>
              <a:rPr lang="en-US" sz="1800"/>
              <a:t>Australia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800"/>
              <a:buFont typeface="Helvetica Neue"/>
              <a:buChar char="•"/>
            </a:pPr>
            <a:r>
              <a:rPr lang="en-US" sz="1800"/>
              <a:t>Brazil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800"/>
              <a:buFont typeface="Helvetica Neue"/>
              <a:buChar char="•"/>
            </a:pPr>
            <a:r>
              <a:rPr lang="en-US" sz="1800"/>
              <a:t>Canada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800"/>
              <a:buFont typeface="Helvetica Neue"/>
              <a:buChar char="•"/>
            </a:pPr>
            <a:r>
              <a:rPr lang="en-US" sz="1800"/>
              <a:t>Great Britain / United Kingdom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800"/>
              <a:buFont typeface="Helvetica Neue"/>
              <a:buChar char="•"/>
            </a:pPr>
            <a:r>
              <a:rPr lang="en-US" sz="1800"/>
              <a:t>Japan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800"/>
              <a:buFont typeface="Helvetica Neue"/>
              <a:buChar char="•"/>
            </a:pPr>
            <a:r>
              <a:rPr lang="en-US" sz="1800"/>
              <a:t>Mexico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800"/>
              <a:buFont typeface="Helvetica Neue"/>
              <a:buChar char="•"/>
            </a:pPr>
            <a:r>
              <a:rPr lang="en-US" sz="1800"/>
              <a:t>South Africa</a:t>
            </a:r>
            <a:endParaRPr sz="1800"/>
          </a:p>
        </p:txBody>
      </p:sp>
      <p:sp>
        <p:nvSpPr>
          <p:cNvPr id="297" name="Google Shape;297;p31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 txBox="1"/>
          <p:nvPr>
            <p:ph type="title"/>
          </p:nvPr>
        </p:nvSpPr>
        <p:spPr>
          <a:xfrm>
            <a:off x="839788" y="3"/>
            <a:ext cx="10515600" cy="13257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Trade Implementation</a:t>
            </a:r>
            <a:endParaRPr/>
          </a:p>
        </p:txBody>
      </p:sp>
      <p:sp>
        <p:nvSpPr>
          <p:cNvPr id="304" name="Google Shape;304;p32"/>
          <p:cNvSpPr txBox="1"/>
          <p:nvPr>
            <p:ph idx="1" type="body"/>
          </p:nvPr>
        </p:nvSpPr>
        <p:spPr>
          <a:xfrm>
            <a:off x="958000" y="2214600"/>
            <a:ext cx="10279200" cy="46434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Helvetica Neue"/>
              <a:buChar char="●"/>
            </a:pPr>
            <a:r>
              <a:rPr lang="en-US" sz="2600">
                <a:solidFill>
                  <a:schemeClr val="accent1"/>
                </a:solidFill>
              </a:rPr>
              <a:t>Step 1: Remove </a:t>
            </a:r>
            <a:r>
              <a:rPr lang="en-US" sz="2600">
                <a:solidFill>
                  <a:schemeClr val="accent1"/>
                </a:solidFill>
              </a:rPr>
              <a:t>systematic </a:t>
            </a:r>
            <a:r>
              <a:rPr lang="en-US" sz="2600">
                <a:solidFill>
                  <a:schemeClr val="accent1"/>
                </a:solidFill>
              </a:rPr>
              <a:t>macro and FX factors from excess FX </a:t>
            </a:r>
            <a:r>
              <a:rPr lang="en-US" sz="2600">
                <a:solidFill>
                  <a:schemeClr val="accent1"/>
                </a:solidFill>
              </a:rPr>
              <a:t>returns</a:t>
            </a:r>
            <a:endParaRPr sz="2600">
              <a:solidFill>
                <a:schemeClr val="accent1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</a:pPr>
            <a:r>
              <a:rPr lang="en-US" sz="2200">
                <a:solidFill>
                  <a:schemeClr val="dk2"/>
                </a:solidFill>
              </a:rPr>
              <a:t>FX Factors: Hedge out FX Carry and US Dollar Strength</a:t>
            </a:r>
            <a:endParaRPr sz="2200">
              <a:solidFill>
                <a:schemeClr val="dk2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</a:pPr>
            <a:r>
              <a:rPr lang="en-US" sz="2200">
                <a:solidFill>
                  <a:schemeClr val="dk2"/>
                </a:solidFill>
              </a:rPr>
              <a:t>Macro Factors: Hedge out macro factors using CDS spread as a proxy</a:t>
            </a:r>
            <a:endParaRPr sz="2200">
              <a:solidFill>
                <a:schemeClr val="dk2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</a:pPr>
            <a:r>
              <a:rPr lang="en-US" sz="2200">
                <a:solidFill>
                  <a:schemeClr val="dk2"/>
                </a:solidFill>
              </a:rPr>
              <a:t>Hedging out these factors isolates currency-specific movements</a:t>
            </a:r>
            <a:endParaRPr sz="2200">
              <a:solidFill>
                <a:schemeClr val="dk2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Char char="●"/>
            </a:pPr>
            <a:r>
              <a:rPr lang="en-US" sz="2600">
                <a:solidFill>
                  <a:schemeClr val="accent1"/>
                </a:solidFill>
              </a:rPr>
              <a:t>Step 2: Generate Trading Signal</a:t>
            </a:r>
            <a:endParaRPr sz="2600">
              <a:solidFill>
                <a:schemeClr val="accent1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</a:pPr>
            <a:r>
              <a:rPr lang="en-US" sz="2200">
                <a:solidFill>
                  <a:schemeClr val="dk2"/>
                </a:solidFill>
              </a:rPr>
              <a:t>Define excess equity returns as (Foreign index - S&amp;P 500)</a:t>
            </a:r>
            <a:endParaRPr sz="2200">
              <a:solidFill>
                <a:schemeClr val="dk2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</a:pPr>
            <a:r>
              <a:rPr lang="en-US" sz="2200">
                <a:solidFill>
                  <a:schemeClr val="dk2"/>
                </a:solidFill>
              </a:rPr>
              <a:t>Regress isolated currency movement on excess equity returns</a:t>
            </a:r>
            <a:endParaRPr sz="2200">
              <a:solidFill>
                <a:schemeClr val="dk2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</a:pPr>
            <a:r>
              <a:rPr lang="en-US" sz="2200">
                <a:solidFill>
                  <a:schemeClr val="dk2"/>
                </a:solidFill>
              </a:rPr>
              <a:t>Use the regression above to generate trading signal</a:t>
            </a:r>
            <a:endParaRPr sz="2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2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3"/>
          <p:cNvSpPr txBox="1"/>
          <p:nvPr>
            <p:ph type="title"/>
          </p:nvPr>
        </p:nvSpPr>
        <p:spPr>
          <a:xfrm>
            <a:off x="839788" y="3"/>
            <a:ext cx="10515600" cy="13257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Signal Evaluation</a:t>
            </a:r>
            <a:endParaRPr/>
          </a:p>
        </p:txBody>
      </p:sp>
      <p:sp>
        <p:nvSpPr>
          <p:cNvPr id="312" name="Google Shape;312;p33"/>
          <p:cNvSpPr txBox="1"/>
          <p:nvPr>
            <p:ph idx="1" type="body"/>
          </p:nvPr>
        </p:nvSpPr>
        <p:spPr>
          <a:xfrm>
            <a:off x="918300" y="1616735"/>
            <a:ext cx="10279200" cy="49512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600"/>
              <a:buChar char="●"/>
            </a:pPr>
            <a:r>
              <a:rPr lang="en-US" sz="2600">
                <a:solidFill>
                  <a:schemeClr val="accent1"/>
                </a:solidFill>
              </a:rPr>
              <a:t>Signal generation occurs at end of day </a:t>
            </a:r>
            <a:r>
              <a:rPr b="1" lang="en-US" sz="2600">
                <a:solidFill>
                  <a:schemeClr val="accent1"/>
                </a:solidFill>
              </a:rPr>
              <a:t>t</a:t>
            </a:r>
            <a:endParaRPr b="1" sz="2600">
              <a:solidFill>
                <a:schemeClr val="accent1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Char char="●"/>
            </a:pPr>
            <a:r>
              <a:rPr lang="en-US" sz="2600">
                <a:solidFill>
                  <a:schemeClr val="accent1"/>
                </a:solidFill>
              </a:rPr>
              <a:t>Gain exposure to our signal via CME FX futures rather than FX rates because</a:t>
            </a:r>
            <a:endParaRPr sz="2600">
              <a:solidFill>
                <a:schemeClr val="accent1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</a:pPr>
            <a:r>
              <a:rPr lang="en-US" sz="2200">
                <a:solidFill>
                  <a:schemeClr val="dk2"/>
                </a:solidFill>
              </a:rPr>
              <a:t>it is easier to capture realistic trading costs</a:t>
            </a:r>
            <a:endParaRPr sz="2200">
              <a:solidFill>
                <a:schemeClr val="dk2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</a:pPr>
            <a:r>
              <a:rPr lang="en-US" sz="2200">
                <a:solidFill>
                  <a:schemeClr val="dk2"/>
                </a:solidFill>
              </a:rPr>
              <a:t>futures have consistent roll over schedules</a:t>
            </a:r>
            <a:endParaRPr sz="2200">
              <a:solidFill>
                <a:schemeClr val="dk2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</a:pPr>
            <a:r>
              <a:rPr lang="en-US" sz="2200">
                <a:solidFill>
                  <a:schemeClr val="dk2"/>
                </a:solidFill>
              </a:rPr>
              <a:t>futures have high liquidity during US trading hours</a:t>
            </a:r>
            <a:endParaRPr sz="2200">
              <a:solidFill>
                <a:schemeClr val="dk2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Char char="●"/>
            </a:pPr>
            <a:r>
              <a:rPr lang="en-US" sz="2600">
                <a:solidFill>
                  <a:schemeClr val="accent1"/>
                </a:solidFill>
              </a:rPr>
              <a:t>Trade execution occurs at start of day </a:t>
            </a:r>
            <a:r>
              <a:rPr b="1" lang="en-US" sz="2600">
                <a:solidFill>
                  <a:schemeClr val="accent1"/>
                </a:solidFill>
              </a:rPr>
              <a:t>t+1</a:t>
            </a:r>
            <a:endParaRPr b="1" sz="2600">
              <a:solidFill>
                <a:schemeClr val="accent1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</a:pPr>
            <a:r>
              <a:rPr lang="en-US" sz="2200">
                <a:solidFill>
                  <a:schemeClr val="dk2"/>
                </a:solidFill>
              </a:rPr>
              <a:t>Position size is determined by signal sign and magnitude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3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9" name="Google Shape;319;p34"/>
          <p:cNvSpPr txBox="1"/>
          <p:nvPr/>
        </p:nvSpPr>
        <p:spPr>
          <a:xfrm>
            <a:off x="462875" y="341075"/>
            <a:ext cx="109752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References</a:t>
            </a:r>
            <a:endParaRPr sz="36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0" name="Google Shape;320;p34"/>
          <p:cNvSpPr txBox="1"/>
          <p:nvPr/>
        </p:nvSpPr>
        <p:spPr>
          <a:xfrm>
            <a:off x="584700" y="1145025"/>
            <a:ext cx="10975200" cy="44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Hau, H. &amp; Helene, R. (2006). </a:t>
            </a:r>
            <a:r>
              <a:rPr i="1" lang="en-US" sz="2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Exchange Rates, Equity Prices, and Capital Flows. </a:t>
            </a:r>
            <a:r>
              <a:rPr lang="en-US" sz="2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Review of Financial Studies, 19(1), 273-317.</a:t>
            </a:r>
            <a:endParaRPr sz="2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Hasselgren, A., Peltomäki, J., &amp; Graham, M. (2020). </a:t>
            </a:r>
            <a:r>
              <a:rPr i="1" lang="en-US" sz="2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Speculator activity and the cross-asset predictability of FX returns.</a:t>
            </a:r>
            <a:r>
              <a:rPr lang="en-US" sz="2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International Review of Financial Analysis, 72</a:t>
            </a:r>
            <a:endParaRPr sz="2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Burnside, C., Eichenbaum, M., Kleshchelski, I., &amp; Rebelo, S. (2011). *Do Peso Problems Explain the Returns to the Carry Trade?* Journal of Finance, 66(3), 853–891.</a:t>
            </a:r>
            <a:endParaRPr sz="2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Lustig, H., Roussanov, N., &amp; Verdelhan, A. (2011). *Common Risk Factors in Currency Markets.* Review of Financial Studies, 24(11), 3731–3777.</a:t>
            </a:r>
            <a:endParaRPr sz="2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Menkhoff, L., Sarno, L., Schmeling, M., &amp; Schrimpf, A. (2012). *Carry Trades and Global Foreign Exchange Volatility.* Journal of Finance, 67(2), 681–718.</a:t>
            </a:r>
            <a:endParaRPr sz="20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Chicago">
  <a:themeElements>
    <a:clrScheme name="Custom 3">
      <a:dk1>
        <a:srgbClr val="000000"/>
      </a:dk1>
      <a:lt1>
        <a:srgbClr val="FFFFFF"/>
      </a:lt1>
      <a:dk2>
        <a:srgbClr val="737373"/>
      </a:dk2>
      <a:lt2>
        <a:srgbClr val="D9D9D9"/>
      </a:lt2>
      <a:accent1>
        <a:srgbClr val="800000"/>
      </a:accent1>
      <a:accent2>
        <a:srgbClr val="D9D9D9"/>
      </a:accent2>
      <a:accent3>
        <a:srgbClr val="A6A6A6"/>
      </a:accent3>
      <a:accent4>
        <a:srgbClr val="EAAA00"/>
      </a:accent4>
      <a:accent5>
        <a:srgbClr val="B36955"/>
      </a:accent5>
      <a:accent6>
        <a:srgbClr val="002A3A"/>
      </a:accent6>
      <a:hlink>
        <a:srgbClr val="800000"/>
      </a:hlink>
      <a:folHlink>
        <a:srgbClr val="73737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